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Роман Биончик, я учусь в 6 «Г» классе. Представляю свой проект — компьютерную игру «Судьба Республики Беларусь в объективе технологий».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Мой рассказ состоит из пяти частей: защита проекта, как играть, Великая Отечественная война в игре, космос и итоги. Это содержание — интерактивное: на каждый раздел можно нажать.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Актуальность. Историю интереснее изучать, когда сам принимаешь решения. Цель проекта — создать игру, где история Беларуси изучается через технологии, стройки и судьбы людей.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достичь цели, я решил пять задач: изучил историю, придумал правила, создал 3D-модели в Blender, написал программу на языке C и проверил игру автоматическими тестами.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написана на языке C с помощью Windows API — это один файл, ему не нужны интернет и сторонние библиотеки. 3D-графику карты я сделал сам, а модели — в Blender. В игре 112 технологий, 69 строек, 52 деятеля, 99 событий, 107 вопросов летописца и 48 заданий.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нового: война как в стратегии Hearts of Iron — армии сами идут по карте и бьются в реальном времени, а враг виден; исторические государства на 3D-карте; 17 женщин из истории Беларуси; анимации — штурм Берлина со Знаменем Победы, взлёт ракеты и авария на Чернобыльской АЭС; все войска — женщины-героини; и метро Минска: все 36 станций с белорусскими названиями, которое игрок строит 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главный экран. Сверху — год и ресурсы: казна, знания, производство, население. Ниже — лента эпох. Слева — 3D-карта, справа — вкладки. Кнопка «Завершить ход» переводит игру к следующему году.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ход — это несколько лет. Игрок изучает технологии, строит, приглашает деятелей и решает исторические события — например, операцию «Возмездие» в 1943 году. Потом нажимает «Завершить ход». А война идёт сама, прямо в реальном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Война идёт в реальном времени, как в стратегии Hearts of Iron. Объявил поход — армия сама идёт к цели, клетка за 10 секунд. Можно командовать и самому: нажать на отряд, потом на город. Когда армия дошла до цели, раз в 10 секунд идёт 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как выглядит бой. Войска — это 3D-модели, которые я сделал в Blender: героини шагают и стреляют, видны вспышки и дым. Напротив — армия врага: в 1943 году это вермахт с танком, и написана его сила. В оккупированных областях стоят вражеские гарнизоны. Когда сила врага сломлена, область освобождена.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Армиям нужно снабжение от столицы. Если армия ушла далеко, она слабеет. С 1871 года можно строить железные дороги — по ним ходят поезда. В годы войны снабжение идёт с Большой земли и от партизан.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Беларуси — трёхмерная. Её можно вращать левой кнопкой мыши, сдвигать правой и приближать колесом. На ней видны города, постройки, армии, железные дороги и оккупированные области.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карте видно не только современную Беларусь, но и государства, в которые входили белорусские земли: Полоцкое и Туровское княжества, Великое Княжество Литовское, Речь Посполитую, Российскую империю, СССР. Во время Великой Отечественной войны карта показывает СССР и оккупированные области.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Ещё в игре есть исторические задания с наградами, вопросы летописца — это викторина по истории — и итоги с графиками. На графике 1945 года видно, как сильно война ударила по населению.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Беларусь приняла на себя жесточайший удар: погиб каждый третий житель. В партизанских отрядах сражались около 45 тысяч женщин, в подполье — около 25 тысяч. В игре в 1941–1944 годах области оккупированы, и их нужно освобождать.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сентября 1943 года минские подпольщицы Елена Мазаник, Мария Осипова и Надежда Троян провели операцию «Возмездие». Все трое стали Героями Советского Союза. В игре это событие с выбором, а героинь можно пригласить в команду. Имена — это ссылки на статьи.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игре есть восемь героинь войны с 3D-портретами: Ефросинья Зенькова и Зинаида Портнова из «Юных мстителей», санинструктор Зинаида Туснолобова-Марченко, партизанка Анна Масловская, разведчица Вера Хоружая и участницы «Возмездия». Пригласить их можно только в 1941–1945 годах.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1943–1944 годах игрок освобождает области: армии идут к центрам областей, и у цели начинается бой. Все наши войска в игре — женщины-героини: стрелки, партизанки, артиллеристки, танкистки и лётчицы. Это 3D-модели, которые я сделал в Blender: всего 24 вида войск, и каждый умеет шагать и стрелять.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начале 1945 года в игре показан штурм Берлина. Сначала бои на улицах: залпы «катюш», наши танки и пехота теснят вермахт. Потом штурм Рейхстага, и в ночь на 1 мая над ним поднимают Знамя Победы — его укрепили сержант Михаил Егоров и младший сержант Мелитон Кантария во главе с лейтенантом Алексеем Берестом. Фронты назывались Белорусскими, потому что летом 1944 года освобождали Беларусь. До Берлина дошли и женщины: санинструкторы, связистки, снайперы, регулировщицы.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игре есть анимация взлёта ракеты: башни отходят, идёт отсчёт «три, два, один, пуск», ракета улетает, отделяются боковые блоки — «крест Королёва», и корабль выходит на орбиту. Так игра показывает полёты Петра Климука, Владимира Ковалёнка и Марины Василевской.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Особое внимание — женщинам. Марина Василевская — первая женщина-космонавт суверенной Беларуси: 23 марта 2024 года она полетела на МКС на корабле «Союз МС-25». В игре у неё особая золотая карточка.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Итоги. Игра создана и работает на любом компьютере с Windows. В ней девять веков истории, война в реальном времени, исторические государства и метро Минска, 17 женщин из истории Беларуси и анимации: 3D-войска, штурм Берлина, взлёт ракеты и авария на ЧАЭС. Вывод: цель достигнута — играя, историю запомнить легче. А сам я узнал о подвиге белорусских женщин и научился программировать.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DARK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Биончик Роман · Гимназия № 10 г. Минска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Биончик Роман · Гимназия № 10 г. Минска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/index.php?search=%D0%93%D0%BE%D0%BB%D0%BE%D0%B2%D0%B0%D1%87%D1%91%D0%B2%20%D0%9F%D0%B0%D0%B2%D0%B5%D0%BB%20%D0%AF%D0%BA%D0%BE%D0%B2%D0%BB%D0%B5%D0%B2%D0%B8%D1%87" TargetMode="External"/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4" Type="http://schemas.openxmlformats.org/officeDocument/2006/relationships/slide" Target="slide7.xml"/><Relationship Id="rId6" Type="http://schemas.openxmlformats.org/officeDocument/2006/relationships/slide" Target="slide15.xml"/><Relationship Id="rId8" Type="http://schemas.openxmlformats.org/officeDocument/2006/relationships/slide" Target="slide20.xml"/><Relationship Id="rId10" Type="http://schemas.openxmlformats.org/officeDocument/2006/relationships/slide" Target="slide22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7" Type="http://schemas.openxmlformats.org/officeDocument/2006/relationships/image" Target="../media/image-2-4.png"/><Relationship Id="rId9" Type="http://schemas.openxmlformats.org/officeDocument/2006/relationships/image" Target="../media/image-2-5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3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7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8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9-1.jpg"/><Relationship Id="rId3" Type="http://schemas.openxmlformats.org/officeDocument/2006/relationships/image" Target="../media/image-9-2.gif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0-1.gif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image" Target="../media/image-11-5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2-1.gif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3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4-1.jpg"/><Relationship Id="rId3" Type="http://schemas.openxmlformats.org/officeDocument/2006/relationships/image" Target="../media/image-14-2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5-1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https://ru.wikipedia.org/w/index.php?search=%D0%9C%D0%B0%D0%B7%D0%B0%D0%BD%D0%B8%D0%BA%20%D0%95%D0%BB%D0%B5%D0%BD%D0%B0%20%D0%93%D1%80%D0%B8%D0%B3%D0%BE%D1%80%D1%8C%D0%B5%D0%B2%D0%BD%D0%B0" TargetMode="External"/><Relationship Id="rId3" Type="http://schemas.openxmlformats.org/officeDocument/2006/relationships/hyperlink" Target="https://ru.wikipedia.org/w/index.php?search=%D0%9E%D1%81%D0%B8%D0%BF%D0%BE%D0%B2%D0%B0%20%D0%9C%D0%B0%D1%80%D0%B8%D1%8F%20%D0%91%D0%BE%D1%80%D0%B8%D1%81%D0%BE%D0%B2%D0%BD%D0%B0" TargetMode="External"/><Relationship Id="rId4" Type="http://schemas.openxmlformats.org/officeDocument/2006/relationships/hyperlink" Target="https://ru.wikipedia.org/w/index.php?search=%D0%A2%D1%80%D0%BE%D1%8F%D0%BD%20%D0%9D%D0%B0%D0%B4%D0%B5%D0%B6%D0%B4%D0%B0%20%D0%92%D0%B8%D0%BA%D1%82%D0%BE%D1%80%D0%BE%D0%B2%D0%BD%D0%B0" TargetMode="External"/><Relationship Id="rId5" Type="http://schemas.openxmlformats.org/officeDocument/2006/relationships/image" Target="../media/image-16-1.jp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hyperlink" Target="https://ru.wikipedia.org/w/index.php?search=%D0%97%D0%B5%D0%BD%D1%8C%D0%BA%D0%BE%D0%B2%D0%B0%20%D0%95%D1%84%D1%80%D0%BE%D1%81%D0%B8%D0%BD%D1%8C%D1%8F%20%D0%A1%D0%B0%D0%B2%D0%B5%D0%BB%D1%8C%D0%B5%D0%B2%D0%BD%D0%B0" TargetMode="External"/><Relationship Id="rId4" Type="http://schemas.openxmlformats.org/officeDocument/2006/relationships/hyperlink" Target="https://ru.wikipedia.org/w/index.php?search=%D0%9F%D0%BE%D1%80%D1%82%D0%BD%D0%BE%D0%B2%D0%B0%20%D0%97%D0%B8%D0%BD%D0%B0%D0%B8%D0%B4%D0%B0%20%D0%9C%D0%B0%D1%80%D1%82%D1%8B%D0%BD%D0%BE%D0%B2%D0%BD%D0%B0" TargetMode="External"/><Relationship Id="rId5" Type="http://schemas.openxmlformats.org/officeDocument/2006/relationships/hyperlink" Target="https://ru.wikipedia.org/w/index.php?search=%D0%A2%D1%83%D1%81%D0%BD%D0%BE%D0%BB%D0%BE%D0%B1%D0%BE%D0%B2%D0%B0-%D0%9C%D0%B0%D1%80%D1%87%D0%B5%D0%BD%D0%BA%D0%BE%20%D0%97%D0%B8%D0%BD%D0%B0%D0%B8%D0%B4%D0%B0%20%D0%9C%D0%B8%D1%85%D0%B0%D0%B9%D0%BB%D0%BE%D0%B2%D0%BD%D0%B0" TargetMode="External"/><Relationship Id="rId6" Type="http://schemas.openxmlformats.org/officeDocument/2006/relationships/hyperlink" Target="https://ru.wikipedia.org/w/index.php?search=%D0%9C%D0%B0%D1%81%D0%BB%D0%BE%D0%B2%D1%81%D0%BA%D0%B0%D1%8F%20%D0%90%D0%BD%D0%BD%D0%B0%20%D0%98%D0%B2%D0%B0%D0%BD%D0%BE%D0%B2%D0%BD%D0%B0" TargetMode="External"/><Relationship Id="rId7" Type="http://schemas.openxmlformats.org/officeDocument/2006/relationships/hyperlink" Target="https://ru.wikipedia.org/w/index.php?search=%D0%A5%D0%BE%D1%80%D1%83%D0%B6%D0%B0%D1%8F%20%D0%92%D0%B5%D1%80%D0%B0%20%D0%97%D0%B0%D1%85%D0%B0%D1%80%D0%BE%D0%B2%D0%BD%D0%B0" TargetMode="External"/><Relationship Id="rId2" Type="http://schemas.openxmlformats.org/officeDocument/2006/relationships/image" Target="../media/image-17-1.jp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8-1.jpg"/><Relationship Id="rId3" Type="http://schemas.openxmlformats.org/officeDocument/2006/relationships/image" Target="../media/image-18-2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9-1.gif"/><Relationship Id="rId3" Type="http://schemas.openxmlformats.org/officeDocument/2006/relationships/image" Target="../media/image-19-2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hyperlink" Target="https://ru.wikipedia.org/w/index.php?search=%D0%9A%D0%BB%D0%B8%D0%BC%D1%83%D0%BA%20%D0%9F%D1%91%D1%82%D1%80%20%D0%98%D0%BB%D1%8C%D0%B8%D1%87" TargetMode="External"/><Relationship Id="rId4" Type="http://schemas.openxmlformats.org/officeDocument/2006/relationships/hyperlink" Target="https://ru.wikipedia.org/w/index.php?search=%D0%9A%D0%BE%D0%B2%D0%B0%D0%BB%D1%91%D0%BD%D0%BE%D0%BA%20%D0%92%D0%BB%D0%B0%D0%B4%D0%B8%D0%BC%D0%B8%D1%80%20%D0%92%D0%B0%D1%81%D0%B8%D0%BB%D1%8C%D0%B5%D0%B2%D0%B8%D1%87" TargetMode="External"/><Relationship Id="rId5" Type="http://schemas.openxmlformats.org/officeDocument/2006/relationships/hyperlink" Target="https://ru.wikipedia.org/w/index.php?search=%D0%92%D0%B0%D1%81%D0%B8%D0%BB%D0%B5%D0%B2%D1%81%D0%BA%D0%B0%D1%8F%20%D0%9C%D0%B0%D1%80%D0%B8%D0%BD%D0%B0%20%D0%BA%D0%BE%D1%81%D0%BC%D0%BE%D0%BD%D0%B0%D0%B2%D1%82" TargetMode="External"/><Relationship Id="rId2" Type="http://schemas.openxmlformats.org/officeDocument/2006/relationships/image" Target="../media/image-20-1.gif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1-1.jpg"/><Relationship Id="rId3" Type="http://schemas.openxmlformats.org/officeDocument/2006/relationships/image" Target="../media/image-21-2.jpg"/><Relationship Id="rId4" Type="http://schemas.openxmlformats.org/officeDocument/2006/relationships/image" Target="../media/image-21-3.jp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hyperlink" Target="https://ru.wikipedia.org/w/index.php?search=%D0%96%D0%B5%D0%BD%D1%89%D0%B8%D0%BD%D1%8B%20%D0%93%D0%B5%D1%80%D0%BE%D0%B8%20%D0%A1%D0%BE%D0%B2%D0%B5%D1%82%D1%81%D0%BA%D0%BE%D0%B3%D0%BE%20%D0%A1%D0%BE%D1%8E%D0%B7%D0%B0%20%D0%91%D0%B5%D0%BB%D0%B0%D1%80%D1%83%D1%81%D1%8C" TargetMode="External"/><Relationship Id="rId4" Type="http://schemas.openxmlformats.org/officeDocument/2006/relationships/hyperlink" Target="https://ru.wikipedia.org/wiki/&#1041;&#1077;&#1083;&#1086;&#1088;&#1091;&#1089;&#1089;&#1080;&#1103;" TargetMode="External"/><Relationship Id="rId1" Type="http://schemas.openxmlformats.org/officeDocument/2006/relationships/image" Target="../media/image-23-1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tmp/claude-0/-home-user-xy-/a67a51dc-14ac-57ee-b735-98b960f6acb5/scratchpad/pres/img/titl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veil" descr="/tmp/claude-0/-home-user-xy-/a67a51dc-14ac-57ee-b735-98b960f6acb5/scratchpad/pres/img/title_ve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548640" y="548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· компьютерная игра-стратегия</a:t>
            </a:r>
            <a:endParaRPr lang="en-US" sz="1300" dirty="0"/>
          </a:p>
        </p:txBody>
      </p:sp>
      <p:sp>
        <p:nvSpPr>
          <p:cNvPr id="5" name="titleText"/>
          <p:cNvSpPr txBox="1"/>
          <p:nvPr/>
        </p:nvSpPr>
        <p:spPr>
          <a:xfrm>
            <a:off x="548640" y="868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Судьба Республики Беларусь в объективе технологий</a:t>
            </a:r>
            <a:endParaRPr lang="en-US" sz="3200" dirty="0"/>
          </a:p>
        </p:txBody>
      </p:sp>
      <p:sp>
        <p:nvSpPr>
          <p:cNvPr id="6" name="subText"/>
          <p:cNvSpPr txBox="1"/>
          <p:nvPr/>
        </p:nvSpPr>
        <p:spPr>
          <a:xfrm>
            <a:off x="548640" y="25146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Беларуси с 1100 по 2026 год: технологии, стройки, люди — и подвиг женщин-героинь в Великой Отечественной войне</a:t>
            </a:r>
            <a:endParaRPr lang="en-US" sz="1500" dirty="0"/>
          </a:p>
        </p:txBody>
      </p:sp>
      <p:sp>
        <p:nvSpPr>
          <p:cNvPr id="7" name="authorBox"/>
          <p:cNvSpPr txBox="1"/>
          <p:nvPr/>
        </p:nvSpPr>
        <p:spPr>
          <a:xfrm>
            <a:off x="548640" y="35204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Биончик Роман, учащийся 6 «Г» класса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Кто такой П. Я. Головачёв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ГУО «Гимназия № 10 г. Минска имени дважды Героя Советского Союза П. Я. Головачёва»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Минск, 2026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en-US" sz="3600" dirty="0"/>
          </a:p>
        </p:txBody>
      </p:sp>
      <p:sp>
        <p:nvSpPr>
          <p:cNvPr id="3" name="hint"/>
          <p:cNvSpPr txBox="1"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на раздел, чтобы перейти к нему</a:t>
            </a:r>
            <a:endParaRPr lang="en-US" sz="1300" dirty="0"/>
          </a:p>
        </p:txBody>
      </p:sp>
      <p:sp>
        <p:nvSpPr>
          <p:cNvPr id="4" name="c1">
            <a:hlinkClick r:id="rId2" action="ppaction://hlinksldjump"/>
          </p:cNvPr>
          <p:cNvSpPr/>
          <p:nvPr/>
        </p:nvSpPr>
        <p:spPr>
          <a:xfrm>
            <a:off x="548640" y="155448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41B23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5" name="c1bCircle">
            <a:hlinkClick r:id="rId2" action="ppaction://hlinksldjump"/>
          </p:cNvPr>
          <p:cNvSpPr/>
          <p:nvPr/>
        </p:nvSpPr>
        <p:spPr>
          <a:xfrm>
            <a:off x="658368" y="1609344"/>
            <a:ext cx="347472" cy="347472"/>
          </a:xfrm>
          <a:prstGeom prst="ellipse">
            <a:avLst/>
          </a:prstGeom>
          <a:solidFill>
            <a:srgbClr val="E0475B"/>
          </a:solidFill>
          <a:ln w="12700">
            <a:solidFill>
              <a:srgbClr val="E0475B"/>
            </a:solidFill>
            <a:prstDash val="solid"/>
          </a:ln>
        </p:spPr>
      </p:sp>
      <p:pic>
        <p:nvPicPr>
          <p:cNvPr id="6" name="c1bIcon" descr="preencod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761" y="1692737"/>
            <a:ext cx="180685" cy="180685"/>
          </a:xfrm>
          <a:prstGeom prst="rect">
            <a:avLst/>
          </a:prstGeom>
        </p:spPr>
      </p:pic>
      <p:sp>
        <p:nvSpPr>
          <p:cNvPr id="7" name="c1t">
            <a:hlinkClick r:id="rId2" action="ppaction://hlinksldjump"/>
          </p:cNvPr>
          <p:cNvSpPr txBox="1"/>
          <p:nvPr/>
        </p:nvSpPr>
        <p:spPr>
          <a:xfrm>
            <a:off x="1188720" y="155448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Перейти: Защита проект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Защита проекта</a:t>
            </a:r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актуальность, цель, задачи, как сделана игра</a:t>
            </a:r>
            <a:endParaRPr lang="en-US" sz="1700" dirty="0"/>
          </a:p>
        </p:txBody>
      </p:sp>
      <p:sp>
        <p:nvSpPr>
          <p:cNvPr id="8" name="c2">
            <a:hlinkClick r:id="rId4" action="ppaction://hlinksldjump"/>
          </p:cNvPr>
          <p:cNvSpPr/>
          <p:nvPr/>
        </p:nvSpPr>
        <p:spPr>
          <a:xfrm>
            <a:off x="548640" y="2157984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41B23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9" name="c2bCircle">
            <a:hlinkClick r:id="rId4" action="ppaction://hlinksldjump"/>
          </p:cNvPr>
          <p:cNvSpPr/>
          <p:nvPr/>
        </p:nvSpPr>
        <p:spPr>
          <a:xfrm>
            <a:off x="658368" y="2212848"/>
            <a:ext cx="347472" cy="347472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pic>
        <p:nvPicPr>
          <p:cNvPr id="10" name="c2bIcon" descr="preencoded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1" y="2296241"/>
            <a:ext cx="180685" cy="180685"/>
          </a:xfrm>
          <a:prstGeom prst="rect">
            <a:avLst/>
          </a:prstGeom>
        </p:spPr>
      </p:pic>
      <p:sp>
        <p:nvSpPr>
          <p:cNvPr id="11" name="c2t">
            <a:hlinkClick r:id="rId4" action="ppaction://hlinksldjump"/>
          </p:cNvPr>
          <p:cNvSpPr txBox="1"/>
          <p:nvPr/>
        </p:nvSpPr>
        <p:spPr>
          <a:xfrm>
            <a:off x="1188720" y="215798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Перейти: Как играт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Как играть</a:t>
            </a:r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ход, армии, снабжение, 3D-карта, задания</a:t>
            </a:r>
            <a:endParaRPr lang="en-US" sz="1700" dirty="0"/>
          </a:p>
        </p:txBody>
      </p:sp>
      <p:sp>
        <p:nvSpPr>
          <p:cNvPr id="12" name="c3">
            <a:hlinkClick r:id="rId6" action="ppaction://hlinksldjump"/>
          </p:cNvPr>
          <p:cNvSpPr/>
          <p:nvPr/>
        </p:nvSpPr>
        <p:spPr>
          <a:xfrm>
            <a:off x="548640" y="2761488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41B23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3" name="c3bCircle">
            <a:hlinkClick r:id="rId6" action="ppaction://hlinksldjump"/>
          </p:cNvPr>
          <p:cNvSpPr/>
          <p:nvPr/>
        </p:nvSpPr>
        <p:spPr>
          <a:xfrm>
            <a:off x="658368" y="2816352"/>
            <a:ext cx="347472" cy="347472"/>
          </a:xfrm>
          <a:prstGeom prst="ellipse">
            <a:avLst/>
          </a:prstGeom>
          <a:solidFill>
            <a:srgbClr val="E0475B"/>
          </a:solidFill>
          <a:ln w="12700">
            <a:solidFill>
              <a:srgbClr val="E0475B"/>
            </a:solidFill>
            <a:prstDash val="solid"/>
          </a:ln>
        </p:spPr>
      </p:sp>
      <p:pic>
        <p:nvPicPr>
          <p:cNvPr id="14" name="c3bIcon" descr="preencoded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761" y="2899745"/>
            <a:ext cx="180685" cy="180685"/>
          </a:xfrm>
          <a:prstGeom prst="rect">
            <a:avLst/>
          </a:prstGeom>
        </p:spPr>
      </p:pic>
      <p:sp>
        <p:nvSpPr>
          <p:cNvPr id="15" name="c3t">
            <a:hlinkClick r:id="rId6" action="ppaction://hlinksldjump"/>
          </p:cNvPr>
          <p:cNvSpPr txBox="1"/>
          <p:nvPr/>
        </p:nvSpPr>
        <p:spPr>
          <a:xfrm>
            <a:off x="1188720" y="276148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Перейти: Великая Отечественная войн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Великая Отечественная война</a:t>
            </a:r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оккупация, «Возмездие», героини, освобождение, Берлин</a:t>
            </a:r>
            <a:endParaRPr lang="en-US" sz="1700" dirty="0"/>
          </a:p>
        </p:txBody>
      </p:sp>
      <p:sp>
        <p:nvSpPr>
          <p:cNvPr id="16" name="c4">
            <a:hlinkClick r:id="rId8" action="ppaction://hlinksldjump"/>
          </p:cNvPr>
          <p:cNvSpPr/>
          <p:nvPr/>
        </p:nvSpPr>
        <p:spPr>
          <a:xfrm>
            <a:off x="548640" y="3364992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41B23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7" name="c4bCircle">
            <a:hlinkClick r:id="rId8" action="ppaction://hlinksldjump"/>
          </p:cNvPr>
          <p:cNvSpPr/>
          <p:nvPr/>
        </p:nvSpPr>
        <p:spPr>
          <a:xfrm>
            <a:off x="658368" y="3419856"/>
            <a:ext cx="347472" cy="347472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pic>
        <p:nvPicPr>
          <p:cNvPr id="18" name="c4bIcon" descr="preencoded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761" y="3503249"/>
            <a:ext cx="180685" cy="180685"/>
          </a:xfrm>
          <a:prstGeom prst="rect">
            <a:avLst/>
          </a:prstGeom>
        </p:spPr>
      </p:pic>
      <p:sp>
        <p:nvSpPr>
          <p:cNvPr id="19" name="c4t">
            <a:hlinkClick r:id="rId8" action="ppaction://hlinksldjump"/>
          </p:cNvPr>
          <p:cNvSpPr txBox="1"/>
          <p:nvPr/>
        </p:nvSpPr>
        <p:spPr>
          <a:xfrm>
            <a:off x="1188720" y="336499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Перейти: Космос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 Космос</a:t>
            </a:r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взлёт ракеты, первая женщина-космонавт Беларуси</a:t>
            </a:r>
            <a:endParaRPr lang="en-US" sz="1700" dirty="0"/>
          </a:p>
        </p:txBody>
      </p:sp>
      <p:sp>
        <p:nvSpPr>
          <p:cNvPr id="20" name="c5">
            <a:hlinkClick r:id="rId10" action="ppaction://hlinksldjump"/>
          </p:cNvPr>
          <p:cNvSpPr/>
          <p:nvPr/>
        </p:nvSpPr>
        <p:spPr>
          <a:xfrm>
            <a:off x="548640" y="3968496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41B23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1" name="c5bCircle">
            <a:hlinkClick r:id="rId10" action="ppaction://hlinksldjump"/>
          </p:cNvPr>
          <p:cNvSpPr/>
          <p:nvPr/>
        </p:nvSpPr>
        <p:spPr>
          <a:xfrm>
            <a:off x="658368" y="4023360"/>
            <a:ext cx="347472" cy="347472"/>
          </a:xfrm>
          <a:prstGeom prst="ellipse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pic>
        <p:nvPicPr>
          <p:cNvPr id="22" name="c5bIcon" descr="preencoded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761" y="4106753"/>
            <a:ext cx="180685" cy="180685"/>
          </a:xfrm>
          <a:prstGeom prst="rect">
            <a:avLst/>
          </a:prstGeom>
        </p:spPr>
      </p:pic>
      <p:sp>
        <p:nvSpPr>
          <p:cNvPr id="23" name="c5t">
            <a:hlinkClick r:id="rId10" action="ppaction://hlinksldjump"/>
          </p:cNvPr>
          <p:cNvSpPr txBox="1"/>
          <p:nvPr/>
        </p:nvSpPr>
        <p:spPr>
          <a:xfrm>
            <a:off x="1188720" y="3968496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Перейти: Итоги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 Итоги</a:t>
            </a:r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результаты, выводы, вопросы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60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9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 и цель проекта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sp>
        <p:nvSpPr>
          <p:cNvPr id="5" name="actBox"/>
          <p:cNvSpPr txBox="1"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Беларуси — это не только даты, но и люди, изобретения и стройки. В игре можно «прожить» девять веков и увидеть, как технологии меняли страну.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Особое место — подвиг женщин Беларуси в Великой Отечественной войне.</a:t>
            </a:r>
            <a:endParaRPr lang="en-US" sz="1400" dirty="0"/>
          </a:p>
        </p:txBody>
      </p:sp>
      <p:sp>
        <p:nvSpPr>
          <p:cNvPr id="6" name="goalBoxBg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7" name="goalBox"/>
          <p:cNvSpPr txBox="1"/>
          <p:nvPr/>
        </p:nvSpPr>
        <p:spPr>
          <a:xfrm>
            <a:off x="640080" y="31546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B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компьютерную игру, в которой история Беларуси изучается через технологии, стройки и судьбы людей.</a:t>
            </a:r>
            <a:endParaRPr lang="en-US" sz="1400" dirty="0"/>
          </a:p>
        </p:txBody>
      </p:sp>
      <p:pic>
        <p:nvPicPr>
          <p:cNvPr id="8" name="shot" descr="/tmp/claude-0/-home-user-xy-/a67a51dc-14ac-57ee-b735-98b960f6acb5/scratchpad/pres/img/s9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452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9" name="caption"/>
          <p:cNvSpPr txBox="1"/>
          <p:nvPr/>
        </p:nvSpPr>
        <p:spPr>
          <a:xfrm>
            <a:off x="4663440" y="3588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эпохи «Великая Отечественная война» в игре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проекта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sp>
        <p:nvSpPr>
          <p:cNvPr id="5" name="st0"/>
          <p:cNvSpPr/>
          <p:nvPr/>
        </p:nvSpPr>
        <p:spPr>
          <a:xfrm>
            <a:off x="457200" y="1280160"/>
            <a:ext cx="1517904" cy="3017520"/>
          </a:xfrm>
          <a:prstGeom prst="roundRect">
            <a:avLst>
              <a:gd name="adj" fmla="val 6024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6" name="st0bCircle"/>
          <p:cNvSpPr/>
          <p:nvPr/>
        </p:nvSpPr>
        <p:spPr>
          <a:xfrm>
            <a:off x="896112" y="1463040"/>
            <a:ext cx="640080" cy="640080"/>
          </a:xfrm>
          <a:prstGeom prst="ellipse">
            <a:avLst/>
          </a:prstGeom>
          <a:solidFill>
            <a:srgbClr val="E0475B"/>
          </a:solidFill>
          <a:ln w="12700">
            <a:solidFill>
              <a:srgbClr val="E0475B"/>
            </a:solidFill>
            <a:prstDash val="solid"/>
          </a:ln>
        </p:spPr>
      </p:sp>
      <p:pic>
        <p:nvPicPr>
          <p:cNvPr id="7" name="st0b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" y="1616659"/>
            <a:ext cx="332842" cy="332842"/>
          </a:xfrm>
          <a:prstGeom prst="rect">
            <a:avLst/>
          </a:prstGeom>
        </p:spPr>
      </p:pic>
      <p:sp>
        <p:nvSpPr>
          <p:cNvPr id="8" name="st0n"/>
          <p:cNvSpPr txBox="1"/>
          <p:nvPr/>
        </p:nvSpPr>
        <p:spPr>
          <a:xfrm>
            <a:off x="56692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t0t"/>
          <p:cNvSpPr txBox="1"/>
          <p:nvPr/>
        </p:nvSpPr>
        <p:spPr>
          <a:xfrm>
            <a:off x="566928" y="2286000"/>
            <a:ext cx="1298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историю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школьному конспекту, учебнику и энциклопедиям</a:t>
            </a:r>
            <a:endParaRPr lang="en-US" sz="1500" dirty="0"/>
          </a:p>
        </p:txBody>
      </p:sp>
      <p:sp>
        <p:nvSpPr>
          <p:cNvPr id="10" name="st1"/>
          <p:cNvSpPr/>
          <p:nvPr/>
        </p:nvSpPr>
        <p:spPr>
          <a:xfrm>
            <a:off x="2084832" y="1280160"/>
            <a:ext cx="1517904" cy="3017520"/>
          </a:xfrm>
          <a:prstGeom prst="roundRect">
            <a:avLst>
              <a:gd name="adj" fmla="val 6024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1" name="st1bCircle"/>
          <p:cNvSpPr/>
          <p:nvPr/>
        </p:nvSpPr>
        <p:spPr>
          <a:xfrm>
            <a:off x="2523744" y="1463040"/>
            <a:ext cx="640080" cy="640080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pic>
        <p:nvPicPr>
          <p:cNvPr id="12" name="st1b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363" y="1616659"/>
            <a:ext cx="332842" cy="332842"/>
          </a:xfrm>
          <a:prstGeom prst="rect">
            <a:avLst/>
          </a:prstGeom>
        </p:spPr>
      </p:pic>
      <p:sp>
        <p:nvSpPr>
          <p:cNvPr id="13" name="st1n"/>
          <p:cNvSpPr txBox="1"/>
          <p:nvPr/>
        </p:nvSpPr>
        <p:spPr>
          <a:xfrm>
            <a:off x="21945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t1t"/>
          <p:cNvSpPr txBox="1"/>
          <p:nvPr/>
        </p:nvSpPr>
        <p:spPr>
          <a:xfrm>
            <a:off x="2194560" y="2286000"/>
            <a:ext cx="1298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Придумать правила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эпохи, ресурсы, события, войны, задания</a:t>
            </a:r>
            <a:endParaRPr lang="en-US" sz="1500" dirty="0"/>
          </a:p>
        </p:txBody>
      </p:sp>
      <p:sp>
        <p:nvSpPr>
          <p:cNvPr id="15" name="st2"/>
          <p:cNvSpPr/>
          <p:nvPr/>
        </p:nvSpPr>
        <p:spPr>
          <a:xfrm>
            <a:off x="3712464" y="1280160"/>
            <a:ext cx="1517904" cy="3017520"/>
          </a:xfrm>
          <a:prstGeom prst="roundRect">
            <a:avLst>
              <a:gd name="adj" fmla="val 6024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6" name="st2bCircle"/>
          <p:cNvSpPr/>
          <p:nvPr/>
        </p:nvSpPr>
        <p:spPr>
          <a:xfrm>
            <a:off x="4151376" y="1463040"/>
            <a:ext cx="640080" cy="64008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pic>
        <p:nvPicPr>
          <p:cNvPr id="17" name="st2b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995" y="1616659"/>
            <a:ext cx="332842" cy="332842"/>
          </a:xfrm>
          <a:prstGeom prst="rect">
            <a:avLst/>
          </a:prstGeom>
        </p:spPr>
      </p:pic>
      <p:sp>
        <p:nvSpPr>
          <p:cNvPr id="18" name="st2n"/>
          <p:cNvSpPr txBox="1"/>
          <p:nvPr/>
        </p:nvSpPr>
        <p:spPr>
          <a:xfrm>
            <a:off x="382219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t2t"/>
          <p:cNvSpPr txBox="1"/>
          <p:nvPr/>
        </p:nvSpPr>
        <p:spPr>
          <a:xfrm>
            <a:off x="3822192" y="2286000"/>
            <a:ext cx="1298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3D-модели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Blender: карта, постройки, портреты, войска</a:t>
            </a:r>
            <a:endParaRPr lang="en-US" sz="1500" dirty="0"/>
          </a:p>
        </p:txBody>
      </p:sp>
      <p:sp>
        <p:nvSpPr>
          <p:cNvPr id="20" name="st3"/>
          <p:cNvSpPr/>
          <p:nvPr/>
        </p:nvSpPr>
        <p:spPr>
          <a:xfrm>
            <a:off x="5340096" y="1280160"/>
            <a:ext cx="1517904" cy="3017520"/>
          </a:xfrm>
          <a:prstGeom prst="roundRect">
            <a:avLst>
              <a:gd name="adj" fmla="val 6024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1" name="st3bCircle"/>
          <p:cNvSpPr/>
          <p:nvPr/>
        </p:nvSpPr>
        <p:spPr>
          <a:xfrm>
            <a:off x="5779008" y="1463040"/>
            <a:ext cx="640080" cy="640080"/>
          </a:xfrm>
          <a:prstGeom prst="ellipse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pic>
        <p:nvPicPr>
          <p:cNvPr id="22" name="st3b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627" y="1616659"/>
            <a:ext cx="332842" cy="332842"/>
          </a:xfrm>
          <a:prstGeom prst="rect">
            <a:avLst/>
          </a:prstGeom>
        </p:spPr>
      </p:pic>
      <p:sp>
        <p:nvSpPr>
          <p:cNvPr id="23" name="st3n"/>
          <p:cNvSpPr txBox="1"/>
          <p:nvPr/>
        </p:nvSpPr>
        <p:spPr>
          <a:xfrm>
            <a:off x="5449824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t3t"/>
          <p:cNvSpPr txBox="1"/>
          <p:nvPr/>
        </p:nvSpPr>
        <p:spPr>
          <a:xfrm>
            <a:off x="5449824" y="2286000"/>
            <a:ext cx="1298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программу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языке C для Windows, без сторонних библиотек</a:t>
            </a:r>
            <a:endParaRPr lang="en-US" sz="1500" dirty="0"/>
          </a:p>
        </p:txBody>
      </p:sp>
      <p:sp>
        <p:nvSpPr>
          <p:cNvPr id="25" name="st4"/>
          <p:cNvSpPr/>
          <p:nvPr/>
        </p:nvSpPr>
        <p:spPr>
          <a:xfrm>
            <a:off x="6967728" y="1280160"/>
            <a:ext cx="1517904" cy="3017520"/>
          </a:xfrm>
          <a:prstGeom prst="roundRect">
            <a:avLst>
              <a:gd name="adj" fmla="val 6024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6" name="st4bCircle"/>
          <p:cNvSpPr/>
          <p:nvPr/>
        </p:nvSpPr>
        <p:spPr>
          <a:xfrm>
            <a:off x="7406640" y="1463040"/>
            <a:ext cx="640080" cy="640080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pic>
        <p:nvPicPr>
          <p:cNvPr id="27" name="st4b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259" y="1616659"/>
            <a:ext cx="332842" cy="332842"/>
          </a:xfrm>
          <a:prstGeom prst="rect">
            <a:avLst/>
          </a:prstGeom>
        </p:spPr>
      </p:pic>
      <p:sp>
        <p:nvSpPr>
          <p:cNvPr id="28" name="st4n"/>
          <p:cNvSpPr txBox="1"/>
          <p:nvPr/>
        </p:nvSpPr>
        <p:spPr>
          <a:xfrm>
            <a:off x="707745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t4t"/>
          <p:cNvSpPr txBox="1"/>
          <p:nvPr/>
        </p:nvSpPr>
        <p:spPr>
          <a:xfrm>
            <a:off x="7077456" y="2286000"/>
            <a:ext cx="1298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игру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автоматическими тестами: тысячи проверок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950"/>
                            </p:stCondLst>
                            <p:childTnLst>
                              <p:par>
                                <p:cTn id="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6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сделана игра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sp>
        <p:nvSpPr>
          <p:cNvPr id="5" name="tr0Circle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E0475B"/>
          </a:solidFill>
          <a:ln w="12700">
            <a:solidFill>
              <a:srgbClr val="E0475B"/>
            </a:solidFill>
            <a:prstDash val="solid"/>
          </a:ln>
        </p:spPr>
      </p:sp>
      <p:pic>
        <p:nvPicPr>
          <p:cNvPr id="6" name="tr0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217981"/>
            <a:ext cx="261518" cy="261518"/>
          </a:xfrm>
          <a:prstGeom prst="rect">
            <a:avLst/>
          </a:prstGeom>
        </p:spPr>
      </p:pic>
      <p:sp>
        <p:nvSpPr>
          <p:cNvPr id="7" name="tr0t"/>
          <p:cNvSpPr txBox="1"/>
          <p:nvPr/>
        </p:nvSpPr>
        <p:spPr>
          <a:xfrm>
            <a:off x="1097280" y="1051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C и Windows API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файл .exe, без интернета и сторонних библиотек</a:t>
            </a:r>
            <a:endParaRPr lang="en-US" sz="1500" dirty="0"/>
          </a:p>
        </p:txBody>
      </p:sp>
      <p:sp>
        <p:nvSpPr>
          <p:cNvPr id="8" name="tr1Circle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pic>
        <p:nvPicPr>
          <p:cNvPr id="9" name="tr1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086661"/>
            <a:ext cx="261518" cy="261518"/>
          </a:xfrm>
          <a:prstGeom prst="rect">
            <a:avLst/>
          </a:prstGeom>
        </p:spPr>
      </p:pic>
      <p:sp>
        <p:nvSpPr>
          <p:cNvPr id="10" name="tr1t"/>
          <p:cNvSpPr txBox="1"/>
          <p:nvPr/>
        </p:nvSpPr>
        <p:spPr>
          <a:xfrm>
            <a:off x="1097280" y="1920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3D-графика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карту Беларуси можно вращать, наклонять и приближать</a:t>
            </a:r>
            <a:endParaRPr lang="en-US" sz="1500" dirty="0"/>
          </a:p>
        </p:txBody>
      </p:sp>
      <p:sp>
        <p:nvSpPr>
          <p:cNvPr id="11" name="tr2Circle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pic>
        <p:nvPicPr>
          <p:cNvPr id="12" name="tr2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955341"/>
            <a:ext cx="261518" cy="261518"/>
          </a:xfrm>
          <a:prstGeom prst="rect">
            <a:avLst/>
          </a:prstGeom>
        </p:spPr>
      </p:pic>
      <p:sp>
        <p:nvSpPr>
          <p:cNvPr id="13" name="tr2t"/>
          <p:cNvSpPr txBox="1"/>
          <p:nvPr/>
        </p:nvSpPr>
        <p:spPr>
          <a:xfrm>
            <a:off x="1097280" y="2788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карта, постройки, 87 портретов, 24 вида войск</a:t>
            </a:r>
            <a:endParaRPr lang="en-US" sz="1500" dirty="0"/>
          </a:p>
        </p:txBody>
      </p:sp>
      <p:sp>
        <p:nvSpPr>
          <p:cNvPr id="14" name="tr3Circle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pic>
        <p:nvPicPr>
          <p:cNvPr id="15" name="tr3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824021"/>
            <a:ext cx="261518" cy="261518"/>
          </a:xfrm>
          <a:prstGeom prst="rect">
            <a:avLst/>
          </a:prstGeom>
        </p:spPr>
      </p:pic>
      <p:sp>
        <p:nvSpPr>
          <p:cNvPr id="16" name="tr3t"/>
          <p:cNvSpPr txBox="1"/>
          <p:nvPr/>
        </p:nvSpPr>
        <p:spPr>
          <a:xfrm>
            <a:off x="1097280" y="3657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Автотесты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проходит игру до 2026 года и проверяет всё</a:t>
            </a:r>
            <a:endParaRPr lang="en-US" sz="1500" dirty="0"/>
          </a:p>
        </p:txBody>
      </p:sp>
      <p:sp>
        <p:nvSpPr>
          <p:cNvPr id="17" name="k0"/>
          <p:cNvSpPr/>
          <p:nvPr/>
        </p:nvSpPr>
        <p:spPr>
          <a:xfrm>
            <a:off x="4754880" y="10972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8" name="k0t"/>
          <p:cNvSpPr txBox="1"/>
          <p:nvPr/>
        </p:nvSpPr>
        <p:spPr>
          <a:xfrm>
            <a:off x="4754880" y="117043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4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технологий</a:t>
            </a:r>
            <a:endParaRPr lang="en-US" sz="3200" dirty="0"/>
          </a:p>
        </p:txBody>
      </p:sp>
      <p:sp>
        <p:nvSpPr>
          <p:cNvPr id="19" name="k1"/>
          <p:cNvSpPr/>
          <p:nvPr/>
        </p:nvSpPr>
        <p:spPr>
          <a:xfrm>
            <a:off x="6766560" y="10972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0" name="k1t"/>
          <p:cNvSpPr txBox="1"/>
          <p:nvPr/>
        </p:nvSpPr>
        <p:spPr>
          <a:xfrm>
            <a:off x="6766560" y="117043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B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строек</a:t>
            </a:r>
            <a:endParaRPr lang="en-US" sz="3200" dirty="0"/>
          </a:p>
        </p:txBody>
      </p:sp>
      <p:sp>
        <p:nvSpPr>
          <p:cNvPr id="21" name="k2"/>
          <p:cNvSpPr/>
          <p:nvPr/>
        </p:nvSpPr>
        <p:spPr>
          <a:xfrm>
            <a:off x="4754880" y="22860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2" name="k2t"/>
          <p:cNvSpPr txBox="1"/>
          <p:nvPr/>
        </p:nvSpPr>
        <p:spPr>
          <a:xfrm>
            <a:off x="4754880" y="235915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4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деятеля</a:t>
            </a:r>
            <a:endParaRPr lang="en-US" sz="3200" dirty="0"/>
          </a:p>
        </p:txBody>
      </p:sp>
      <p:sp>
        <p:nvSpPr>
          <p:cNvPr id="23" name="k3"/>
          <p:cNvSpPr/>
          <p:nvPr/>
        </p:nvSpPr>
        <p:spPr>
          <a:xfrm>
            <a:off x="6766560" y="22860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4" name="k3t"/>
          <p:cNvSpPr txBox="1"/>
          <p:nvPr/>
        </p:nvSpPr>
        <p:spPr>
          <a:xfrm>
            <a:off x="6766560" y="235915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B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</a:t>
            </a:r>
            <a:endParaRPr lang="en-US" sz="3200" dirty="0"/>
          </a:p>
        </p:txBody>
      </p:sp>
      <p:sp>
        <p:nvSpPr>
          <p:cNvPr id="25" name="k4"/>
          <p:cNvSpPr/>
          <p:nvPr/>
        </p:nvSpPr>
        <p:spPr>
          <a:xfrm>
            <a:off x="4754880" y="34747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6" name="k4t"/>
          <p:cNvSpPr txBox="1"/>
          <p:nvPr/>
        </p:nvSpPr>
        <p:spPr>
          <a:xfrm>
            <a:off x="4754880" y="35478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4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 летописца</a:t>
            </a:r>
            <a:endParaRPr lang="en-US" sz="3200" dirty="0"/>
          </a:p>
        </p:txBody>
      </p:sp>
      <p:sp>
        <p:nvSpPr>
          <p:cNvPr id="27" name="k5"/>
          <p:cNvSpPr/>
          <p:nvPr/>
        </p:nvSpPr>
        <p:spPr>
          <a:xfrm>
            <a:off x="6766560" y="34747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8" name="k5t"/>
          <p:cNvSpPr txBox="1"/>
          <p:nvPr/>
        </p:nvSpPr>
        <p:spPr>
          <a:xfrm>
            <a:off x="6766560" y="35478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B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заданий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6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2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9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55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2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85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нового в моей игре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sp>
        <p:nvSpPr>
          <p:cNvPr id="5" name="nv0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6" name="nv0bCircle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pic>
        <p:nvPicPr>
          <p:cNvPr id="7" name="nv0b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1411834"/>
            <a:ext cx="285293" cy="285293"/>
          </a:xfrm>
          <a:prstGeom prst="rect">
            <a:avLst/>
          </a:prstGeom>
        </p:spPr>
      </p:pic>
      <p:sp>
        <p:nvSpPr>
          <p:cNvPr id="8" name="nv0t"/>
          <p:cNvSpPr txBox="1"/>
          <p:nvPr/>
        </p:nvSpPr>
        <p:spPr>
          <a:xfrm>
            <a:off x="1325880" y="1280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Война как в HOI</a:t>
            </a:r>
            <a:endParaRPr lang="en-US" sz="1400" dirty="0"/>
          </a:p>
        </p:txBody>
      </p:sp>
      <p:sp>
        <p:nvSpPr>
          <p:cNvPr id="9" name="nv0d"/>
          <p:cNvSpPr txBox="1"/>
          <p:nvPr/>
        </p:nvSpPr>
        <p:spPr>
          <a:xfrm>
            <a:off x="640080" y="19385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армии сами идут по карте и бьются в реальном времени; враг виден</a:t>
            </a:r>
            <a:endParaRPr lang="en-US" sz="1200" dirty="0"/>
          </a:p>
        </p:txBody>
      </p:sp>
      <p:sp>
        <p:nvSpPr>
          <p:cNvPr id="10" name="nv1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1" name="nv1bCircle"/>
          <p:cNvSpPr/>
          <p:nvPr/>
        </p:nvSpPr>
        <p:spPr>
          <a:xfrm>
            <a:off x="3429000" y="1280160"/>
            <a:ext cx="548640" cy="54864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pic>
        <p:nvPicPr>
          <p:cNvPr id="12" name="nv1b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674" y="1411834"/>
            <a:ext cx="285293" cy="285293"/>
          </a:xfrm>
          <a:prstGeom prst="rect">
            <a:avLst/>
          </a:prstGeom>
        </p:spPr>
      </p:pic>
      <p:sp>
        <p:nvSpPr>
          <p:cNvPr id="13" name="nv1t"/>
          <p:cNvSpPr txBox="1"/>
          <p:nvPr/>
        </p:nvSpPr>
        <p:spPr>
          <a:xfrm>
            <a:off x="4114800" y="1280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Исторические государства</a:t>
            </a:r>
            <a:endParaRPr lang="en-US" sz="1400" dirty="0"/>
          </a:p>
        </p:txBody>
      </p:sp>
      <p:sp>
        <p:nvSpPr>
          <p:cNvPr id="14" name="nv1d"/>
          <p:cNvSpPr txBox="1"/>
          <p:nvPr/>
        </p:nvSpPr>
        <p:spPr>
          <a:xfrm>
            <a:off x="3429000" y="19385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ВКЛ, Речь Посполитая, Российская империя, СССР — на 3D-карте</a:t>
            </a:r>
            <a:endParaRPr lang="en-US" sz="1200" dirty="0"/>
          </a:p>
        </p:txBody>
      </p:sp>
      <p:sp>
        <p:nvSpPr>
          <p:cNvPr id="15" name="nv2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6" name="nv2bCircle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rgbClr val="E0475B"/>
          </a:solidFill>
          <a:ln w="12700">
            <a:solidFill>
              <a:srgbClr val="E0475B"/>
            </a:solidFill>
            <a:prstDash val="solid"/>
          </a:ln>
        </p:spPr>
      </p:sp>
      <p:pic>
        <p:nvPicPr>
          <p:cNvPr id="17" name="nv2b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594" y="1411834"/>
            <a:ext cx="285293" cy="285293"/>
          </a:xfrm>
          <a:prstGeom prst="rect">
            <a:avLst/>
          </a:prstGeom>
        </p:spPr>
      </p:pic>
      <p:sp>
        <p:nvSpPr>
          <p:cNvPr id="18" name="nv2t"/>
          <p:cNvSpPr txBox="1"/>
          <p:nvPr/>
        </p:nvSpPr>
        <p:spPr>
          <a:xfrm>
            <a:off x="6903720" y="1280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женщин истории</a:t>
            </a:r>
            <a:endParaRPr lang="en-US" sz="1400" dirty="0"/>
          </a:p>
        </p:txBody>
      </p:sp>
      <p:sp>
        <p:nvSpPr>
          <p:cNvPr id="19" name="nv2d"/>
          <p:cNvSpPr txBox="1"/>
          <p:nvPr/>
        </p:nvSpPr>
        <p:spPr>
          <a:xfrm>
            <a:off x="6217920" y="19385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Франтишки Уршули Радзивилл до Марины Василевской</a:t>
            </a:r>
            <a:endParaRPr lang="en-US" sz="1200" dirty="0"/>
          </a:p>
        </p:txBody>
      </p:sp>
      <p:sp>
        <p:nvSpPr>
          <p:cNvPr id="20" name="nv3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1" name="nv3bCircle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pic>
        <p:nvPicPr>
          <p:cNvPr id="22" name="nv3b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3194914"/>
            <a:ext cx="285293" cy="285293"/>
          </a:xfrm>
          <a:prstGeom prst="rect">
            <a:avLst/>
          </a:prstGeom>
        </p:spPr>
      </p:pic>
      <p:sp>
        <p:nvSpPr>
          <p:cNvPr id="23" name="nv3t"/>
          <p:cNvSpPr txBox="1"/>
          <p:nvPr/>
        </p:nvSpPr>
        <p:spPr>
          <a:xfrm>
            <a:off x="13258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Анимации</a:t>
            </a:r>
            <a:endParaRPr lang="en-US" sz="1400" dirty="0"/>
          </a:p>
        </p:txBody>
      </p:sp>
      <p:sp>
        <p:nvSpPr>
          <p:cNvPr id="24" name="nv3d"/>
          <p:cNvSpPr txBox="1"/>
          <p:nvPr/>
        </p:nvSpPr>
        <p:spPr>
          <a:xfrm>
            <a:off x="640080" y="37216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штурм Берлина и Знамя Победы, взлёт ракеты, авария на ЧАЭС</a:t>
            </a:r>
            <a:endParaRPr lang="en-US" sz="1200" dirty="0"/>
          </a:p>
        </p:txBody>
      </p:sp>
      <p:sp>
        <p:nvSpPr>
          <p:cNvPr id="25" name="nv4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6" name="nv4bCircle"/>
          <p:cNvSpPr/>
          <p:nvPr/>
        </p:nvSpPr>
        <p:spPr>
          <a:xfrm>
            <a:off x="3429000" y="3063240"/>
            <a:ext cx="548640" cy="548640"/>
          </a:xfrm>
          <a:prstGeom prst="ellipse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pic>
        <p:nvPicPr>
          <p:cNvPr id="27" name="nv4b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674" y="3194914"/>
            <a:ext cx="285293" cy="285293"/>
          </a:xfrm>
          <a:prstGeom prst="rect">
            <a:avLst/>
          </a:prstGeom>
        </p:spPr>
      </p:pic>
      <p:sp>
        <p:nvSpPr>
          <p:cNvPr id="28" name="nv4t"/>
          <p:cNvSpPr txBox="1"/>
          <p:nvPr/>
        </p:nvSpPr>
        <p:spPr>
          <a:xfrm>
            <a:off x="411480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Героини в строю</a:t>
            </a:r>
            <a:endParaRPr lang="en-US" sz="1400" dirty="0"/>
          </a:p>
        </p:txBody>
      </p:sp>
      <p:sp>
        <p:nvSpPr>
          <p:cNvPr id="29" name="nv4d"/>
          <p:cNvSpPr txBox="1"/>
          <p:nvPr/>
        </p:nvSpPr>
        <p:spPr>
          <a:xfrm>
            <a:off x="3429000" y="37216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войска — женщины-героини: шагают и стреляют</a:t>
            </a:r>
            <a:endParaRPr lang="en-US" sz="1200" dirty="0"/>
          </a:p>
        </p:txBody>
      </p:sp>
      <p:sp>
        <p:nvSpPr>
          <p:cNvPr id="30" name="nv5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31" name="nv5bCircle"/>
          <p:cNvSpPr/>
          <p:nvPr/>
        </p:nvSpPr>
        <p:spPr>
          <a:xfrm>
            <a:off x="6217920" y="3063240"/>
            <a:ext cx="548640" cy="548640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pic>
        <p:nvPicPr>
          <p:cNvPr id="32" name="nv5b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9594" y="3194914"/>
            <a:ext cx="285293" cy="285293"/>
          </a:xfrm>
          <a:prstGeom prst="rect">
            <a:avLst/>
          </a:prstGeom>
        </p:spPr>
      </p:pic>
      <p:sp>
        <p:nvSpPr>
          <p:cNvPr id="33" name="nv5t"/>
          <p:cNvSpPr txBox="1"/>
          <p:nvPr/>
        </p:nvSpPr>
        <p:spPr>
          <a:xfrm>
            <a:off x="690372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Метро Минска</a:t>
            </a:r>
            <a:endParaRPr lang="en-US" sz="1400" dirty="0"/>
          </a:p>
        </p:txBody>
      </p:sp>
      <p:sp>
        <p:nvSpPr>
          <p:cNvPr id="34" name="nv5d"/>
          <p:cNvSpPr txBox="1"/>
          <p:nvPr/>
        </p:nvSpPr>
        <p:spPr>
          <a:xfrm>
            <a:off x="6217920" y="37216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36 станций, названия по-белорусски; игрок строит сам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950"/>
                            </p:stCondLst>
                            <p:childTnLst>
                              <p:par>
                                <p:cTn id="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6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25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  <p:bldP spid="28" grpId="0" animBg="1"/>
      <p:bldP spid="29" grpId="0" animBg="1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играть: главный экран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shot" descr="/tmp/claude-0/-home-user-xy-/a67a51dc-14ac-57ee-b735-98b960f6acb5/scratchpad/pres/img/s9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669280" cy="344555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m1"/>
          <p:cNvSpPr/>
          <p:nvPr/>
        </p:nvSpPr>
        <p:spPr>
          <a:xfrm>
            <a:off x="912666" y="1059022"/>
            <a:ext cx="310896" cy="310896"/>
          </a:xfrm>
          <a:prstGeom prst="ellipse">
            <a:avLst/>
          </a:prstGeom>
          <a:solidFill>
            <a:srgbClr val="E04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m1t"/>
          <p:cNvSpPr txBox="1"/>
          <p:nvPr/>
        </p:nvSpPr>
        <p:spPr>
          <a:xfrm>
            <a:off x="912666" y="10590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m2"/>
          <p:cNvSpPr/>
          <p:nvPr/>
        </p:nvSpPr>
        <p:spPr>
          <a:xfrm>
            <a:off x="2745407" y="1417425"/>
            <a:ext cx="310896" cy="310896"/>
          </a:xfrm>
          <a:prstGeom prst="ellipse">
            <a:avLst/>
          </a:prstGeom>
          <a:solidFill>
            <a:srgbClr val="E04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m2t"/>
          <p:cNvSpPr txBox="1"/>
          <p:nvPr/>
        </p:nvSpPr>
        <p:spPr>
          <a:xfrm>
            <a:off x="2745407" y="14174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m3"/>
          <p:cNvSpPr/>
          <p:nvPr/>
        </p:nvSpPr>
        <p:spPr>
          <a:xfrm>
            <a:off x="1523580" y="3013946"/>
            <a:ext cx="310896" cy="310896"/>
          </a:xfrm>
          <a:prstGeom prst="ellipse">
            <a:avLst/>
          </a:prstGeom>
          <a:solidFill>
            <a:srgbClr val="E04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m3t"/>
          <p:cNvSpPr txBox="1"/>
          <p:nvPr/>
        </p:nvSpPr>
        <p:spPr>
          <a:xfrm>
            <a:off x="1523580" y="30139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m4"/>
          <p:cNvSpPr/>
          <p:nvPr/>
        </p:nvSpPr>
        <p:spPr>
          <a:xfrm>
            <a:off x="4333783" y="1612918"/>
            <a:ext cx="310896" cy="310896"/>
          </a:xfrm>
          <a:prstGeom prst="ellipse">
            <a:avLst/>
          </a:prstGeom>
          <a:solidFill>
            <a:srgbClr val="E04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m4t"/>
          <p:cNvSpPr txBox="1"/>
          <p:nvPr/>
        </p:nvSpPr>
        <p:spPr>
          <a:xfrm>
            <a:off x="4333783" y="16129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m5"/>
          <p:cNvSpPr/>
          <p:nvPr/>
        </p:nvSpPr>
        <p:spPr>
          <a:xfrm>
            <a:off x="5506738" y="1026440"/>
            <a:ext cx="310896" cy="310896"/>
          </a:xfrm>
          <a:prstGeom prst="ellipse">
            <a:avLst/>
          </a:prstGeom>
          <a:solidFill>
            <a:srgbClr val="E04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m5t"/>
          <p:cNvSpPr txBox="1"/>
          <p:nvPr/>
        </p:nvSpPr>
        <p:spPr>
          <a:xfrm>
            <a:off x="5506738" y="1026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legend"/>
          <p:cNvSpPr txBox="1"/>
          <p:nvPr/>
        </p:nvSpPr>
        <p:spPr>
          <a:xfrm>
            <a:off x="6355080" y="105156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Год, казна, знания, производство, население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Лента эпох: от 1100 до 2026 года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3D-карта: города, армии, железные дороги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Вкладки: технологии, стройки, деятели, армия…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«Завершить ход» — следующий год</a:t>
            </a:r>
            <a:endParaRPr lang="en-US" sz="1300" dirty="0"/>
          </a:p>
        </p:txBody>
      </p:sp>
      <p:sp>
        <p:nvSpPr>
          <p:cNvPr id="17" name="caption"/>
          <p:cNvSpPr txBox="1"/>
          <p:nvPr/>
        </p:nvSpPr>
        <p:spPr>
          <a:xfrm>
            <a:off x="457200" y="454283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 игры: 1943 год, освобождение Могилёвщины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95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5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9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проходит ход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sp>
        <p:nvSpPr>
          <p:cNvPr id="5" name="f0"/>
          <p:cNvSpPr/>
          <p:nvPr/>
        </p:nvSpPr>
        <p:spPr>
          <a:xfrm>
            <a:off x="457200" y="10972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6" name="f0c"/>
          <p:cNvSpPr/>
          <p:nvPr/>
        </p:nvSpPr>
        <p:spPr>
          <a:xfrm>
            <a:off x="566928" y="1188720"/>
            <a:ext cx="365760" cy="36576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7" name="f0n"/>
          <p:cNvSpPr txBox="1"/>
          <p:nvPr/>
        </p:nvSpPr>
        <p:spPr>
          <a:xfrm>
            <a:off x="56692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f0t"/>
          <p:cNvSpPr txBox="1"/>
          <p:nvPr/>
        </p:nvSpPr>
        <p:spPr>
          <a:xfrm>
            <a:off x="105156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Изучайте технологии</a:t>
            </a:r>
            <a:endParaRPr lang="en-US" sz="1500" dirty="0"/>
          </a:p>
        </p:txBody>
      </p:sp>
      <p:sp>
        <p:nvSpPr>
          <p:cNvPr id="9" name="f1"/>
          <p:cNvSpPr/>
          <p:nvPr/>
        </p:nvSpPr>
        <p:spPr>
          <a:xfrm>
            <a:off x="457200" y="17830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0" name="f1c"/>
          <p:cNvSpPr/>
          <p:nvPr/>
        </p:nvSpPr>
        <p:spPr>
          <a:xfrm>
            <a:off x="566928" y="1874520"/>
            <a:ext cx="365760" cy="365760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sp>
        <p:nvSpPr>
          <p:cNvPr id="11" name="f1n"/>
          <p:cNvSpPr txBox="1"/>
          <p:nvPr/>
        </p:nvSpPr>
        <p:spPr>
          <a:xfrm>
            <a:off x="56692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f1t"/>
          <p:cNvSpPr txBox="1"/>
          <p:nvPr/>
        </p:nvSpPr>
        <p:spPr>
          <a:xfrm>
            <a:off x="105156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Стройте</a:t>
            </a:r>
            <a:endParaRPr lang="en-US" sz="1500" dirty="0"/>
          </a:p>
        </p:txBody>
      </p:sp>
      <p:sp>
        <p:nvSpPr>
          <p:cNvPr id="13" name="f2"/>
          <p:cNvSpPr/>
          <p:nvPr/>
        </p:nvSpPr>
        <p:spPr>
          <a:xfrm>
            <a:off x="457200" y="24688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4" name="f2c"/>
          <p:cNvSpPr/>
          <p:nvPr/>
        </p:nvSpPr>
        <p:spPr>
          <a:xfrm>
            <a:off x="566928" y="2560320"/>
            <a:ext cx="365760" cy="365760"/>
          </a:xfrm>
          <a:prstGeom prst="ellipse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sp>
        <p:nvSpPr>
          <p:cNvPr id="15" name="f2n"/>
          <p:cNvSpPr txBox="1"/>
          <p:nvPr/>
        </p:nvSpPr>
        <p:spPr>
          <a:xfrm>
            <a:off x="56692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f2t"/>
          <p:cNvSpPr txBox="1"/>
          <p:nvPr/>
        </p:nvSpPr>
        <p:spPr>
          <a:xfrm>
            <a:off x="105156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Приглашайте деятелей</a:t>
            </a:r>
            <a:endParaRPr lang="en-US" sz="1500" dirty="0"/>
          </a:p>
        </p:txBody>
      </p:sp>
      <p:sp>
        <p:nvSpPr>
          <p:cNvPr id="17" name="f3"/>
          <p:cNvSpPr/>
          <p:nvPr/>
        </p:nvSpPr>
        <p:spPr>
          <a:xfrm>
            <a:off x="457200" y="31546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8" name="f3c"/>
          <p:cNvSpPr/>
          <p:nvPr/>
        </p:nvSpPr>
        <p:spPr>
          <a:xfrm>
            <a:off x="566928" y="3246120"/>
            <a:ext cx="365760" cy="365760"/>
          </a:xfrm>
          <a:prstGeom prst="ellipse">
            <a:avLst/>
          </a:prstGeom>
          <a:solidFill>
            <a:srgbClr val="E0475B"/>
          </a:solidFill>
          <a:ln w="12700">
            <a:solidFill>
              <a:srgbClr val="E0475B"/>
            </a:solidFill>
            <a:prstDash val="solid"/>
          </a:ln>
        </p:spPr>
      </p:sp>
      <p:sp>
        <p:nvSpPr>
          <p:cNvPr id="19" name="f3n"/>
          <p:cNvSpPr txBox="1"/>
          <p:nvPr/>
        </p:nvSpPr>
        <p:spPr>
          <a:xfrm>
            <a:off x="5669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f3t"/>
          <p:cNvSpPr txBox="1"/>
          <p:nvPr/>
        </p:nvSpPr>
        <p:spPr>
          <a:xfrm>
            <a:off x="105156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Решайте события</a:t>
            </a:r>
            <a:endParaRPr lang="en-US" sz="1500" dirty="0"/>
          </a:p>
        </p:txBody>
      </p:sp>
      <p:sp>
        <p:nvSpPr>
          <p:cNvPr id="21" name="f4"/>
          <p:cNvSpPr/>
          <p:nvPr/>
        </p:nvSpPr>
        <p:spPr>
          <a:xfrm>
            <a:off x="457200" y="38404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0475B"/>
          </a:solidFill>
          <a:ln w="9525">
            <a:solidFill>
              <a:srgbClr val="E0475B"/>
            </a:solidFill>
            <a:prstDash val="solid"/>
          </a:ln>
        </p:spPr>
      </p:sp>
      <p:sp>
        <p:nvSpPr>
          <p:cNvPr id="22" name="f4c"/>
          <p:cNvSpPr/>
          <p:nvPr/>
        </p:nvSpPr>
        <p:spPr>
          <a:xfrm>
            <a:off x="566928" y="39319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f4n"/>
          <p:cNvSpPr txBox="1"/>
          <p:nvPr/>
        </p:nvSpPr>
        <p:spPr>
          <a:xfrm>
            <a:off x="5669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f4t"/>
          <p:cNvSpPr txBox="1"/>
          <p:nvPr/>
        </p:nvSpPr>
        <p:spPr>
          <a:xfrm>
            <a:off x="105156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Завершить ход</a:t>
            </a:r>
            <a:endParaRPr lang="en-US" sz="1500" dirty="0"/>
          </a:p>
        </p:txBody>
      </p:sp>
      <p:pic>
        <p:nvPicPr>
          <p:cNvPr id="25" name="shot" descr="/tmp/claude-0/-home-user-xy-/a67a51dc-14ac-57ee-b735-98b960f6acb5/scratchpad/pres/img/event_cr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097280"/>
            <a:ext cx="4526280" cy="297037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6" name="caption"/>
          <p:cNvSpPr txBox="1"/>
          <p:nvPr/>
        </p:nvSpPr>
        <p:spPr>
          <a:xfrm>
            <a:off x="4160520" y="4113371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1943 года: операция «Возмездие» — игрок выбирает решение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6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Армии на карте — как в HOI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shot" descr="/tmp/claude-0/-home-user-xy-/a67a51dc-14ac-57ee-b735-98b960f6acb5/scratchpad/pres/img/s4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120640" cy="311211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caption"/>
          <p:cNvSpPr txBox="1"/>
          <p:nvPr/>
        </p:nvSpPr>
        <p:spPr>
          <a:xfrm>
            <a:off x="457200" y="4209393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 год: армии идут освобождать Могилёв и Витебск</a:t>
            </a:r>
            <a:endParaRPr lang="en-US" sz="1000" dirty="0"/>
          </a:p>
        </p:txBody>
      </p:sp>
      <p:sp>
        <p:nvSpPr>
          <p:cNvPr id="7" name="steps"/>
          <p:cNvSpPr txBox="1"/>
          <p:nvPr/>
        </p:nvSpPr>
        <p:spPr>
          <a:xfrm>
            <a:off x="5806440" y="1051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Объявите поход — армия сама пойдёт к цели: клетка за 10 секунд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и самим: нажмите на отряд, потом на город (или правой кнопкой)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цели раз в 10 секунд идёт бой</a:t>
            </a:r>
            <a:endParaRPr lang="en-US" sz="1300" dirty="0"/>
          </a:p>
        </p:txBody>
      </p:sp>
      <p:pic>
        <p:nvPicPr>
          <p:cNvPr id="8" name="gifBattle" descr="/tmp/claude-0/-home-user-xy-/a67a51dc-14ac-57ee-b735-98b960f6acb5/scratchpad/pres/gif/march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97480"/>
            <a:ext cx="2880360" cy="178672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806440" y="4529923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Анимация: отряд героинь идёт на Могилёв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Бой и армия врага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41B23"/>
          </a:solidFill>
          <a:ln w="9525">
            <a:solidFill>
              <a:srgbClr val="8A6D33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gif" descr="/tmp/claude-0/-home-user-xy-/a67a51dc-14ac-57ee-b735-98b960f6acb5/scratchpad/pres/gif/battle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120640" cy="3218688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 из игры: бой за Могилёв, 1943 год</a:t>
            </a:r>
            <a:endParaRPr lang="en-US" sz="1000" dirty="0"/>
          </a:p>
        </p:txBody>
      </p:sp>
      <p:sp>
        <p:nvSpPr>
          <p:cNvPr id="7" name="txt"/>
          <p:cNvSpPr txBox="1"/>
          <p:nvPr/>
        </p:nvSpPr>
        <p:spPr>
          <a:xfrm>
            <a:off x="5852160" y="105156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войска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3D-модели из Blender: героини шагают и стреляют, видны вспышки и дым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Армия врага видна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дивизии в форме своей эпохи и их сила: «вермахт · сила 168»; в оккупированных областях — гарнизоны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освобождена — доходы растут, каратели больше не жгут деревни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Снабжение и железные дороги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sp>
        <p:nvSpPr>
          <p:cNvPr id="5" name="sr0Circle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pic>
        <p:nvPicPr>
          <p:cNvPr id="6" name="sr0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217981"/>
            <a:ext cx="261518" cy="261518"/>
          </a:xfrm>
          <a:prstGeom prst="rect">
            <a:avLst/>
          </a:prstGeom>
        </p:spPr>
      </p:pic>
      <p:sp>
        <p:nvSpPr>
          <p:cNvPr id="7" name="sr0t"/>
          <p:cNvSpPr txBox="1"/>
          <p:nvPr/>
        </p:nvSpPr>
        <p:spPr>
          <a:xfrm>
            <a:off x="1097280" y="1051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Снабжение идёт от столицы — не дальше двух дорог или по железной дороге</a:t>
            </a:r>
            <a:endParaRPr lang="en-US" sz="1300" dirty="0"/>
          </a:p>
        </p:txBody>
      </p:sp>
      <p:sp>
        <p:nvSpPr>
          <p:cNvPr id="8" name="sr1Circle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E0475B"/>
          </a:solidFill>
          <a:ln w="12700">
            <a:solidFill>
              <a:srgbClr val="E0475B"/>
            </a:solidFill>
            <a:prstDash val="solid"/>
          </a:ln>
        </p:spPr>
      </p:sp>
      <p:pic>
        <p:nvPicPr>
          <p:cNvPr id="9" name="sr1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086661"/>
            <a:ext cx="261518" cy="261518"/>
          </a:xfrm>
          <a:prstGeom prst="rect">
            <a:avLst/>
          </a:prstGeom>
        </p:spPr>
      </p:pic>
      <p:sp>
        <p:nvSpPr>
          <p:cNvPr id="10" name="sr1t"/>
          <p:cNvSpPr txBox="1"/>
          <p:nvPr/>
        </p:nvSpPr>
        <p:spPr>
          <a:xfrm>
            <a:off x="109728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снабжения сила армии падает (×0,6), могут теряться войска</a:t>
            </a:r>
            <a:endParaRPr lang="en-US" sz="1300" dirty="0"/>
          </a:p>
        </p:txBody>
      </p:sp>
      <p:sp>
        <p:nvSpPr>
          <p:cNvPr id="11" name="sr2Circle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pic>
        <p:nvPicPr>
          <p:cNvPr id="12" name="sr2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955341"/>
            <a:ext cx="261518" cy="261518"/>
          </a:xfrm>
          <a:prstGeom prst="rect">
            <a:avLst/>
          </a:prstGeom>
        </p:spPr>
      </p:pic>
      <p:sp>
        <p:nvSpPr>
          <p:cNvPr id="13" name="sr2t"/>
          <p:cNvSpPr txBox="1"/>
          <p:nvPr/>
        </p:nvSpPr>
        <p:spPr>
          <a:xfrm>
            <a:off x="109728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1871 года стройте железные дороги: по ним ходят поезда, армии идут быстрее</a:t>
            </a:r>
            <a:endParaRPr lang="en-US" sz="1300" dirty="0"/>
          </a:p>
        </p:txBody>
      </p:sp>
      <p:sp>
        <p:nvSpPr>
          <p:cNvPr id="14" name="sr3Circle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</p:sp>
      <p:pic>
        <p:nvPicPr>
          <p:cNvPr id="15" name="sr3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824021"/>
            <a:ext cx="261518" cy="261518"/>
          </a:xfrm>
          <a:prstGeom prst="rect">
            <a:avLst/>
          </a:prstGeom>
        </p:spPr>
      </p:pic>
      <p:sp>
        <p:nvSpPr>
          <p:cNvPr id="16" name="sr3t"/>
          <p:cNvSpPr txBox="1"/>
          <p:nvPr/>
        </p:nvSpPr>
        <p:spPr>
          <a:xfrm>
            <a:off x="109728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1941–1944 годах снабжение идёт с Большой земли и от партизан</a:t>
            </a:r>
            <a:endParaRPr lang="en-US" sz="1300" dirty="0"/>
          </a:p>
        </p:txBody>
      </p:sp>
      <p:pic>
        <p:nvPicPr>
          <p:cNvPr id="17" name="shot" descr="/tmp/claude-0/-home-user-xy-/a67a51dc-14ac-57ee-b735-98b960f6acb5/scratchpad/pres/img/s47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097280"/>
            <a:ext cx="4343400" cy="263973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18" name="caption"/>
          <p:cNvSpPr txBox="1"/>
          <p:nvPr/>
        </p:nvSpPr>
        <p:spPr>
          <a:xfrm>
            <a:off x="4343400" y="3782739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1942 год: армия в Минске без снабжения — в тылу врага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6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3D-карта Беларуси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gifMap" descr="/tmp/claude-0/-home-user-xy-/a67a51dc-14ac-57ee-b735-98b960f6acb5/scratchpad/pres/gif/rotate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486400" cy="3335154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43243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Анимация: карта 1942 года поворачивается мышью</a:t>
            </a:r>
            <a:endParaRPr lang="en-US" sz="1000" dirty="0"/>
          </a:p>
        </p:txBody>
      </p:sp>
      <p:sp>
        <p:nvSpPr>
          <p:cNvPr id="7" name="ctrl"/>
          <p:cNvSpPr txBox="1"/>
          <p:nvPr/>
        </p:nvSpPr>
        <p:spPr>
          <a:xfrm>
            <a:off x="6263640" y="1051560"/>
            <a:ext cx="2423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Колесо мыши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ближе / дальше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Левая кнопка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повернуть и наклонить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Правая кнопка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сдвинуть карту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во весь экран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завершить ход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Исторические государства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shot" descr="/tmp/claude-0/-home-user-xy-/a67a51dc-14ac-57ee-b735-98b960f6acb5/scratchpad/pres/img/s5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120640" cy="311211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caption"/>
          <p:cNvSpPr txBox="1"/>
          <p:nvPr/>
        </p:nvSpPr>
        <p:spPr>
          <a:xfrm>
            <a:off x="457200" y="4209393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1942 год: Беларусь в составе СССР, вокруг — соседние республики</a:t>
            </a:r>
            <a:endParaRPr lang="en-US" sz="1000" dirty="0"/>
          </a:p>
        </p:txBody>
      </p:sp>
      <p:sp>
        <p:nvSpPr>
          <p:cNvPr id="7" name="list"/>
          <p:cNvSpPr txBox="1"/>
          <p:nvPr/>
        </p:nvSpPr>
        <p:spPr>
          <a:xfrm>
            <a:off x="5806440" y="1051560"/>
            <a:ext cx="2880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Полоцкое и Туровское княжества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Великое Княжество Литовское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1569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Речь Посполитая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1795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Российская империя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1921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БССР и Западная Беларусь в Польше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1941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СССР в Великой Отечественной войне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 Беларусь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Задания, летописец и итоги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shotA" descr="/tmp/claude-0/-home-user-xy-/a67a51dc-14ac-57ee-b735-98b960f6acb5/scratchpad/pres/img/quests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017520" cy="260675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caption"/>
          <p:cNvSpPr txBox="1"/>
          <p:nvPr/>
        </p:nvSpPr>
        <p:spPr>
          <a:xfrm>
            <a:off x="457200" y="370403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1943 года</a:t>
            </a:r>
            <a:endParaRPr lang="en-US" sz="1000" dirty="0"/>
          </a:p>
        </p:txBody>
      </p:sp>
      <p:pic>
        <p:nvPicPr>
          <p:cNvPr id="7" name="shotB" descr="/tmp/claude-0/-home-user-xy-/a67a51dc-14ac-57ee-b735-98b960f6acb5/scratchpad/pres/img/results_pane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51560"/>
            <a:ext cx="3017520" cy="260675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8" name="caption"/>
          <p:cNvSpPr txBox="1"/>
          <p:nvPr/>
        </p:nvSpPr>
        <p:spPr>
          <a:xfrm>
            <a:off x="3657600" y="370403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1945 года: графики населения</a:t>
            </a:r>
            <a:endParaRPr lang="en-US" sz="1000" dirty="0"/>
          </a:p>
        </p:txBody>
      </p:sp>
      <p:sp>
        <p:nvSpPr>
          <p:cNvPr id="9" name="txt"/>
          <p:cNvSpPr txBox="1"/>
          <p:nvPr/>
        </p:nvSpPr>
        <p:spPr>
          <a:xfrm>
            <a:off x="6858000" y="105156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исторических заданий с наградами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4FB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Летописец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вопросов по истории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и счёт в конце игры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Беларусь в годы войны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41B23"/>
          </a:solidFill>
          <a:ln w="9525">
            <a:solidFill>
              <a:srgbClr val="8A6D33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shot" descr="/tmp/claude-0/-home-user-xy-/a67a51dc-14ac-57ee-b735-98b960f6acb5/scratchpad/pres/img/s2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846320" cy="294539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pic>
      <p:sp>
        <p:nvSpPr>
          <p:cNvPr id="6" name="caption"/>
          <p:cNvSpPr txBox="1"/>
          <p:nvPr/>
        </p:nvSpPr>
        <p:spPr>
          <a:xfrm>
            <a:off x="457200" y="404267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1942 год в игре: оккупированные области, армии и партизанский край</a:t>
            </a:r>
            <a:endParaRPr lang="en-US" sz="1000" dirty="0"/>
          </a:p>
        </p:txBody>
      </p:sp>
      <p:sp>
        <p:nvSpPr>
          <p:cNvPr id="7" name="w0"/>
          <p:cNvSpPr/>
          <p:nvPr/>
        </p:nvSpPr>
        <p:spPr>
          <a:xfrm>
            <a:off x="5577840" y="10515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41B23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8" name="w0t"/>
          <p:cNvSpPr txBox="1"/>
          <p:nvPr/>
        </p:nvSpPr>
        <p:spPr>
          <a:xfrm>
            <a:off x="5715000" y="112471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4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третий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житель Беларуси погиб в войне</a:t>
            </a:r>
            <a:endParaRPr lang="en-US" sz="2400" dirty="0"/>
          </a:p>
        </p:txBody>
      </p:sp>
      <p:sp>
        <p:nvSpPr>
          <p:cNvPr id="9" name="w1"/>
          <p:cNvSpPr/>
          <p:nvPr/>
        </p:nvSpPr>
        <p:spPr>
          <a:xfrm>
            <a:off x="5577840" y="22402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41B23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0" name="w1t"/>
          <p:cNvSpPr txBox="1"/>
          <p:nvPr/>
        </p:nvSpPr>
        <p:spPr>
          <a:xfrm>
            <a:off x="5715000" y="23134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≈45 000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 сражались в партизанских отрядах</a:t>
            </a:r>
            <a:endParaRPr lang="en-US" sz="2800" dirty="0"/>
          </a:p>
        </p:txBody>
      </p:sp>
      <p:sp>
        <p:nvSpPr>
          <p:cNvPr id="11" name="w2"/>
          <p:cNvSpPr/>
          <p:nvPr/>
        </p:nvSpPr>
        <p:spPr>
          <a:xfrm>
            <a:off x="5577840" y="34290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41B23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12" name="w2t"/>
          <p:cNvSpPr txBox="1"/>
          <p:nvPr/>
        </p:nvSpPr>
        <p:spPr>
          <a:xfrm>
            <a:off x="5715000" y="350215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B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≈25 000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 участвовали в подполье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95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Операция «Возмездие», 1943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sp>
        <p:nvSpPr>
          <p:cNvPr id="5" name="txt"/>
          <p:cNvSpPr txBox="1"/>
          <p:nvPr/>
        </p:nvSpPr>
        <p:spPr>
          <a:xfrm>
            <a:off x="457200" y="105156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сентября 1943 года минские подпольщицы уничтожили гауляйтера Вильгельма Кубе.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Героини Советского Союза (29 октября 1943 года):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u="sng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Статья о Елене Мазаник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Елена Мазаник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u="sng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Статья о Марии Осиповой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Мария Осипова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u="sng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Статья о Надежде Троян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Надежда Троян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игре это событие с выбором, а героинь можно пригласить в команду.</a:t>
            </a:r>
            <a:endParaRPr lang="en-US" sz="1400" dirty="0"/>
          </a:p>
        </p:txBody>
      </p:sp>
      <p:pic>
        <p:nvPicPr>
          <p:cNvPr id="6" name="shotA" descr="/tmp/claude-0/-home-user-xy-/a67a51dc-14ac-57ee-b735-98b960f6acb5/scratchpad/pres/img/mazanik_crop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1051560"/>
            <a:ext cx="4754880" cy="31203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caption"/>
          <p:cNvSpPr txBox="1"/>
          <p:nvPr/>
        </p:nvSpPr>
        <p:spPr>
          <a:xfrm>
            <a:off x="3931920" y="421767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Елены Мазаник с 3D-портретом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Героини войны в игре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shot" descr="/tmp/claude-0/-home-user-xy-/a67a51dc-14ac-57ee-b735-98b960f6acb5/scratchpad/pres/img/heroines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931920" cy="339668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caption"/>
          <p:cNvSpPr txBox="1"/>
          <p:nvPr/>
        </p:nvSpPr>
        <p:spPr>
          <a:xfrm>
            <a:off x="457200" y="449396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1942 год: героинь можно пригласить на вкладке «Деятели»</a:t>
            </a:r>
            <a:endParaRPr lang="en-US" sz="1000" dirty="0"/>
          </a:p>
        </p:txBody>
      </p:sp>
      <p:sp>
        <p:nvSpPr>
          <p:cNvPr id="7" name="list"/>
          <p:cNvSpPr txBox="1"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u="sng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Статья: Ефросинья Зеньков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Ефросинья Зенькова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руководила «Юными мстителями» (Оболь)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u="sng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Статья: Зинаида Портнов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Зинаида Портнова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юная разведчица «Юных мстителей»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u="sng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Статья: Зинаида Туснолобова-Марченко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Зинаида Туснолобова-Марченко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вынесла с поля боя 128 раненых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u="sng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Статья: Анна Масловска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Анна Масловская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партизанка, подрывала эшелоны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u="sng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Статья: Вера Хоружа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Вера Хоружая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разведчица в оккупированном Витебске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Освобождение областей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shot" descr="/tmp/claude-0/-home-user-xy-/a67a51dc-14ac-57ee-b735-98b960f6acb5/scratchpad/pres/img/army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931920" cy="339668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caption"/>
          <p:cNvSpPr txBox="1"/>
          <p:nvPr/>
        </p:nvSpPr>
        <p:spPr>
          <a:xfrm>
            <a:off x="457200" y="449396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«Армия», 1943 год</a:t>
            </a:r>
            <a:endParaRPr lang="en-US" sz="1000" dirty="0"/>
          </a:p>
        </p:txBody>
      </p:sp>
      <p:pic>
        <p:nvPicPr>
          <p:cNvPr id="7" name="gif" descr="/tmp/claude-0/-home-user-xy-/a67a51dc-14ac-57ee-b735-98b960f6acb5/scratchpad/pres/img/troops_ww2_gri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51560"/>
            <a:ext cx="3749040" cy="276679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8" name="txt"/>
          <p:cNvSpPr txBox="1"/>
          <p:nvPr/>
        </p:nvSpPr>
        <p:spPr>
          <a:xfrm>
            <a:off x="4800600" y="39555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Освобождайте области сами: армии идут к центрам областей.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наши войска — героини: 3D-модели из Blender, 24 вида, шагают и стреляют.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Штурм Берлина и Знамя Победы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41B23"/>
          </a:solidFill>
          <a:ln w="9525">
            <a:solidFill>
              <a:srgbClr val="8A6D33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gif" descr="/tmp/claude-0/-home-user-xy-/a67a51dc-14ac-57ee-b735-98b960f6acb5/scratchpad/pres/gif/berlin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120640" cy="3112389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209669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 из игры: Знамя Победы над Рейхстагом и салют</a:t>
            </a:r>
            <a:endParaRPr lang="en-US" sz="1000" dirty="0"/>
          </a:p>
        </p:txBody>
      </p:sp>
      <p:pic>
        <p:nvPicPr>
          <p:cNvPr id="7" name="shot" descr="/tmp/claude-0/-home-user-xy-/a67a51dc-14ac-57ee-b735-98b960f6acb5/scratchpad/pres/img/s8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51560"/>
            <a:ext cx="2834640" cy="172277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pic>
      <p:sp>
        <p:nvSpPr>
          <p:cNvPr id="8" name="txt"/>
          <p:cNvSpPr txBox="1"/>
          <p:nvPr/>
        </p:nvSpPr>
        <p:spPr>
          <a:xfrm>
            <a:off x="5852160" y="2911497"/>
            <a:ext cx="2834640" cy="1660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апреля — 8 мая 1945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Берлин брали 1-й Белорусский фронт Жукова и 1-й Украинский Конева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Знамя Победы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ночь на 1 мая его подняли Егоров и Кантария во главе с Берестом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Женщины в Берлине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санинструкторы, связистки, снайперы, регулировщицы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Космос: взлёт ракеты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41B23"/>
          </a:solidFill>
          <a:ln w="9525">
            <a:solidFill>
              <a:srgbClr val="8A6D33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gif" descr="/tmp/claude-0/-home-user-xy-/a67a51dc-14ac-57ee-b735-98b960f6acb5/scratchpad/pres/gif/launch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486400" cy="3335154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43243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 из игры: «Союз МС-25» стартует с Байконура</a:t>
            </a:r>
            <a:endParaRPr lang="en-US" sz="1000" dirty="0"/>
          </a:p>
        </p:txBody>
      </p:sp>
      <p:sp>
        <p:nvSpPr>
          <p:cNvPr id="7" name="list"/>
          <p:cNvSpPr txBox="1"/>
          <p:nvPr/>
        </p:nvSpPr>
        <p:spPr>
          <a:xfrm>
            <a:off x="6263640" y="1051560"/>
            <a:ext cx="2423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Статья: Пётр Климук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Пётр Климук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«Союз-13», 1973 — первый космонавт из Беларуси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Статья: Владимир Ковалёнок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Владимир Ковалёнок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«Союз-29», 1978 — 140 суток на орбите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u="sng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Статья: Марина Василевска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Марина Василевская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«Союз МС-25», 2024 — первая женщина-космонавт суверенной Беларуси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женщина-космонавт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41B23"/>
          </a:solidFill>
          <a:ln w="9525">
            <a:solidFill>
              <a:srgbClr val="8A6D33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pic>
        <p:nvPicPr>
          <p:cNvPr id="5" name="card" descr="/tmp/claude-0/-home-user-xy-/a67a51dc-14ac-57ee-b735-98b960f6acb5/scratchpad/pres/img/s7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120640" cy="311211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pic>
      <p:sp>
        <p:nvSpPr>
          <p:cNvPr id="6" name="caption"/>
          <p:cNvSpPr txBox="1"/>
          <p:nvPr/>
        </p:nvSpPr>
        <p:spPr>
          <a:xfrm>
            <a:off x="457200" y="4209393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 карточка в игре · «Союз МС-25», 23 марта 2024 года</a:t>
            </a:r>
            <a:endParaRPr lang="en-US" sz="1000" dirty="0"/>
          </a:p>
        </p:txBody>
      </p:sp>
      <p:pic>
        <p:nvPicPr>
          <p:cNvPr id="7" name="small1" descr="/tmp/claude-0/-home-user-xy-/a67a51dc-14ac-57ee-b735-98b960f6acb5/scratchpad/pres/img/s7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51560"/>
            <a:ext cx="2834640" cy="172277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pic>
      <p:pic>
        <p:nvPicPr>
          <p:cNvPr id="8" name="small2" descr="/tmp/claude-0/-home-user-xy-/a67a51dc-14ac-57ee-b735-98b960f6acb5/scratchpad/pres/img/s7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11497"/>
            <a:ext cx="2834640" cy="172277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pic>
      <p:sp>
        <p:nvSpPr>
          <p:cNvPr id="9" name="txt"/>
          <p:cNvSpPr txBox="1"/>
          <p:nvPr/>
        </p:nvSpPr>
        <p:spPr>
          <a:xfrm>
            <a:off x="5852160" y="467999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Зажигание и «крест Королёва»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 и выводы</a:t>
            </a:r>
            <a:endParaRPr lang="en-US" sz="2800" dirty="0"/>
          </a:p>
        </p:txBody>
      </p:sp>
      <p:sp>
        <p:nvSpPr>
          <p:cNvPr id="3" name="homeBtn">
            <a:hlinkClick r:id="rId1" action="ppaction://hlinksldjump"/>
          </p:cNvPr>
          <p:cNvSpPr/>
          <p:nvPr/>
        </p:nvSpPr>
        <p:spPr>
          <a:xfrm>
            <a:off x="7635240" y="34747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4" name="homeText">
            <a:hlinkClick r:id="rId1" action="ppaction://hlinksldjump"/>
          </p:cNvPr>
          <p:cNvSpPr txBox="1"/>
          <p:nvPr/>
        </p:nvSpPr>
        <p:spPr>
          <a:xfrm>
            <a:off x="7635240" y="3474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Содержание</a:t>
            </a:r>
            <a:endParaRPr lang="en-US" sz="1100" dirty="0"/>
          </a:p>
        </p:txBody>
      </p:sp>
      <p:sp>
        <p:nvSpPr>
          <p:cNvPr id="5" name="d0"/>
          <p:cNvSpPr/>
          <p:nvPr/>
        </p:nvSpPr>
        <p:spPr>
          <a:xfrm>
            <a:off x="457200" y="1152144"/>
            <a:ext cx="329184" cy="329184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sp>
        <p:nvSpPr>
          <p:cNvPr id="6" name="d0c"/>
          <p:cNvSpPr txBox="1"/>
          <p:nvPr/>
        </p:nvSpPr>
        <p:spPr>
          <a:xfrm>
            <a:off x="45720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d0t"/>
          <p:cNvSpPr txBox="1"/>
          <p:nvPr/>
        </p:nvSpPr>
        <p:spPr>
          <a:xfrm>
            <a:off x="9144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работает на любом компьютере с Windows — один файл</a:t>
            </a:r>
            <a:endParaRPr lang="en-US" sz="1400" dirty="0"/>
          </a:p>
        </p:txBody>
      </p:sp>
      <p:sp>
        <p:nvSpPr>
          <p:cNvPr id="8" name="d1"/>
          <p:cNvSpPr/>
          <p:nvPr/>
        </p:nvSpPr>
        <p:spPr>
          <a:xfrm>
            <a:off x="457200" y="1700784"/>
            <a:ext cx="329184" cy="329184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sp>
        <p:nvSpPr>
          <p:cNvPr id="9" name="d1c"/>
          <p:cNvSpPr txBox="1"/>
          <p:nvPr/>
        </p:nvSpPr>
        <p:spPr>
          <a:xfrm>
            <a:off x="45720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d1t"/>
          <p:cNvSpPr txBox="1"/>
          <p:nvPr/>
        </p:nvSpPr>
        <p:spPr>
          <a:xfrm>
            <a:off x="91440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веков истории: 8 эпох, 70 ходов</a:t>
            </a:r>
            <a:endParaRPr lang="en-US" sz="1400" dirty="0"/>
          </a:p>
        </p:txBody>
      </p:sp>
      <p:sp>
        <p:nvSpPr>
          <p:cNvPr id="11" name="d2"/>
          <p:cNvSpPr/>
          <p:nvPr/>
        </p:nvSpPr>
        <p:spPr>
          <a:xfrm>
            <a:off x="457200" y="2249424"/>
            <a:ext cx="329184" cy="329184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sp>
        <p:nvSpPr>
          <p:cNvPr id="12" name="d2c"/>
          <p:cNvSpPr txBox="1"/>
          <p:nvPr/>
        </p:nvSpPr>
        <p:spPr>
          <a:xfrm>
            <a:off x="45720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d2t"/>
          <p:cNvSpPr txBox="1"/>
          <p:nvPr/>
        </p:nvSpPr>
        <p:spPr>
          <a:xfrm>
            <a:off x="91440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Война в реальном времени: армии, враг, поезда</a:t>
            </a:r>
            <a:endParaRPr lang="en-US" sz="1400" dirty="0"/>
          </a:p>
        </p:txBody>
      </p:sp>
      <p:sp>
        <p:nvSpPr>
          <p:cNvPr id="14" name="d3"/>
          <p:cNvSpPr/>
          <p:nvPr/>
        </p:nvSpPr>
        <p:spPr>
          <a:xfrm>
            <a:off x="457200" y="2798064"/>
            <a:ext cx="329184" cy="329184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sp>
        <p:nvSpPr>
          <p:cNvPr id="15" name="d3c"/>
          <p:cNvSpPr txBox="1"/>
          <p:nvPr/>
        </p:nvSpPr>
        <p:spPr>
          <a:xfrm>
            <a:off x="4572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d3t"/>
          <p:cNvSpPr txBox="1"/>
          <p:nvPr/>
        </p:nvSpPr>
        <p:spPr>
          <a:xfrm>
            <a:off x="914400" y="2743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Исторические государства и метро Минска</a:t>
            </a:r>
            <a:endParaRPr lang="en-US" sz="1400" dirty="0"/>
          </a:p>
        </p:txBody>
      </p:sp>
      <p:sp>
        <p:nvSpPr>
          <p:cNvPr id="17" name="d4"/>
          <p:cNvSpPr/>
          <p:nvPr/>
        </p:nvSpPr>
        <p:spPr>
          <a:xfrm>
            <a:off x="457200" y="3346704"/>
            <a:ext cx="329184" cy="329184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sp>
        <p:nvSpPr>
          <p:cNvPr id="18" name="d4c"/>
          <p:cNvSpPr txBox="1"/>
          <p:nvPr/>
        </p:nvSpPr>
        <p:spPr>
          <a:xfrm>
            <a:off x="45720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d4t"/>
          <p:cNvSpPr txBox="1"/>
          <p:nvPr/>
        </p:nvSpPr>
        <p:spPr>
          <a:xfrm>
            <a:off x="91440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женщин истории с 3D-портретами</a:t>
            </a:r>
            <a:endParaRPr lang="en-US" sz="1400" dirty="0"/>
          </a:p>
        </p:txBody>
      </p:sp>
      <p:sp>
        <p:nvSpPr>
          <p:cNvPr id="20" name="d5"/>
          <p:cNvSpPr/>
          <p:nvPr/>
        </p:nvSpPr>
        <p:spPr>
          <a:xfrm>
            <a:off x="457200" y="3895344"/>
            <a:ext cx="329184" cy="329184"/>
          </a:xfrm>
          <a:prstGeom prst="ellipse">
            <a:avLst/>
          </a:prstGeom>
          <a:solidFill>
            <a:srgbClr val="4FB57E"/>
          </a:solidFill>
          <a:ln w="12700">
            <a:solidFill>
              <a:srgbClr val="4FB57E"/>
            </a:solidFill>
            <a:prstDash val="solid"/>
          </a:ln>
        </p:spPr>
      </p:sp>
      <p:sp>
        <p:nvSpPr>
          <p:cNvPr id="21" name="d5c"/>
          <p:cNvSpPr txBox="1"/>
          <p:nvPr/>
        </p:nvSpPr>
        <p:spPr>
          <a:xfrm>
            <a:off x="45720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d5t"/>
          <p:cNvSpPr txBox="1"/>
          <p:nvPr/>
        </p:nvSpPr>
        <p:spPr>
          <a:xfrm>
            <a:off x="91440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Анимации: 3D-войска, Берлин 1945, ракета, ЧАЭС</a:t>
            </a:r>
            <a:endParaRPr lang="en-US" sz="1400" dirty="0"/>
          </a:p>
        </p:txBody>
      </p:sp>
      <p:sp>
        <p:nvSpPr>
          <p:cNvPr id="23" name="conclBg"/>
          <p:cNvSpPr/>
          <p:nvPr/>
        </p:nvSpPr>
        <p:spPr>
          <a:xfrm>
            <a:off x="5029200" y="1097280"/>
            <a:ext cx="3657600" cy="3429000"/>
          </a:xfrm>
          <a:prstGeom prst="roundRect">
            <a:avLst>
              <a:gd name="adj" fmla="val 2667"/>
            </a:avLst>
          </a:prstGeom>
          <a:solidFill>
            <a:srgbClr val="17202A"/>
          </a:solidFill>
          <a:ln w="9525">
            <a:solidFill>
              <a:srgbClr val="2C3946"/>
            </a:solidFill>
            <a:prstDash val="solid"/>
          </a:ln>
        </p:spPr>
      </p:sp>
      <p:sp>
        <p:nvSpPr>
          <p:cNvPr id="24" name="concl"/>
          <p:cNvSpPr txBox="1"/>
          <p:nvPr/>
        </p:nvSpPr>
        <p:spPr>
          <a:xfrm>
            <a:off x="5257800" y="123444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0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достигнута: игра создана и работает.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Играя, легче запомнить даты, людей и события.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узнал о подвиге белорусских женщин и научился программировать и делать 3D-модели.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B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6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2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9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tmp/claude-0/-home-user-xy-/a67a51dc-14ac-57ee-b735-98b960f6acb5/scratchpad/pres/img/end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eil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4">
              <a:alpha val="70000"/>
            </a:srgbClr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4" name="thanks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5" name="q"/>
          <p:cNvSpPr txBox="1"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ваши вопросы</a:t>
            </a:r>
            <a:endParaRPr lang="en-US" sz="2000" dirty="0"/>
          </a:p>
        </p:txBody>
      </p:sp>
      <p:sp>
        <p:nvSpPr>
          <p:cNvPr id="6" name="links"/>
          <p:cNvSpPr txBox="1"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К содержани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≡ К содержанию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школьный конспект «История Беларуси и женщины-героини»; </a:t>
            </a:r>
            <a:pPr indent="0" marL="0">
              <a:spcAft>
                <a:spcPts val="800"/>
              </a:spcAft>
              <a:buNone/>
            </a:pPr>
            <a:r>
              <a:rPr lang="en-US" sz="1300" u="sng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Поиск статей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статьи о героинях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spcAft>
                <a:spcPts val="800"/>
              </a:spcAft>
              <a:buNone/>
            </a:pPr>
            <a:r>
              <a:rPr lang="en-US" sz="1300" u="sng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Статья о Беларуси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Википедия о Беларуси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Гимназия № 10 г. Минска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Судьба Республики Беларусь в объективе технологий</dc:title>
  <dc:subject>PptxGenJS Presentation</dc:subject>
  <dc:creator>Биончик Роман</dc:creator>
  <cp:lastModifiedBy>Биончик Роман</cp:lastModifiedBy>
  <cp:revision>1</cp:revision>
  <dcterms:created xsi:type="dcterms:W3CDTF">2026-10-23T11:51:30Z</dcterms:created>
  <dcterms:modified xsi:type="dcterms:W3CDTF">2026-10-23T11:51:30Z</dcterms:modified>
</cp:coreProperties>
</file>