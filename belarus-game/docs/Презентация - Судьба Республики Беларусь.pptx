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Здравствуйте! Меня зовут Роман Биончик, я учусь в 6 «Г» классе. Представляю свой проект — компьютерную игру «Судьба Республики Беларусь в объективе технологий».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Мой рассказ состоит из пяти частей: защита проекта, как играть, Великая Отечественная война в игре, космос и итоги. Это содержание — интерактивное: на каждый раздел можно нажать.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Актуальность. Историю интереснее изучать, когда сам принимаешь решения. Цель проекта — создать игру, где история Беларуси изучается через технологии, стройки и судьбы людей.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Чтобы достичь цели, я решил пять задач: изучил историю, придумал правила, создал 3D-модели в Blender, написал программу на языке C и проверил игру автоматическими тестами.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Игра написана на языке C с помощью Windows API — это один файл, ему не нужны интернет и сторонние библиотеки. 3D-графику карты я сделал сам, а модели — в Blender. В игре 112 технологий, 69 строек, 52 деятеля, 99 событий, 107 вопросов летописца и 48 заданий.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Новизна проекта: армии на 3D-карте, как в стратегии Hearts of Iron, 17 женщин из истории Беларуси, анимация взлёта ракеты с белорусскими космонавтами, и все фигурки войск — женщины-героини.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Вот главный экран. Сверху — год и ресурсы: казна, знания, производство, население. Ниже — лента эпох. Слева — 3D-карта, справа — вкладки. Кнопка «Завершить ход» переводит игру к следующему году.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Каждый ход — это несколько лет. Игрок изучает технологии, строит, приглашает деятелей и решает исторические события — например, операцию «Возмездие» в 1943 году. Потом нажимает «Завершить ход».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Войной игрок управляет сам, как в стратегии Hearts of Iron. Нажимаешь на армию, потом на город — и армия идёт туда. Бой начинается, когда армия дошла до цели, и тогда стреляют пушки.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Армиям нужно снабжение от столицы. Если армия ушла далеко, она слабеет. С 1871 года можно строить железные дороги — по ним ходят поезда. В годы войны снабжение идёт с Большой земли и от партизан.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Карта Беларуси — трёхмерная. Её можно вращать левой кнопкой мыши, сдвигать правой и приближать колесом. На ней видны города, постройки, армии, железные дороги и оккупированные области.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Ещё в игре есть исторические задания с наградами, вопросы летописца — это викторина по истории — и итоги с графиками. На графике 1945 года видно, как сильно война ударила по населению.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Беларусь приняла на себя жесточайший удар: погиб каждый третий житель. В партизанских отрядах сражались около 45 тысяч женщин, в подполье — около 25 тысяч. В игре в 1941–1944 годах области оккупированы, и их нужно освобождать.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22 сентября 1943 года минские подпольщицы Елена Мазаник, Мария Осипова и Надежда Троян провели операцию «Возмездие». Все трое стали Героями Советского Союза. В игре это событие с выбором, а героинь можно пригласить в команду. Имена — это ссылки на статьи.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 игре есть восемь героинь войны с 3D-портретами: Ефросинья Зенькова и Зинаида Портнова из «Юных мстителей», санинструктор Зинаида Туснолобова-Марченко, партизанка Анна Масловская, разведчица Вера Хоружая и участницы «Возмездия». Пригласить их можно только в 1941–1945 годах.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 1943–1944 годах игрок сам освобождает области: ведёт армии к центрам областей, и у цели начинается бой. Все фигурки войск в игре — женщины-героини.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 игре есть анимация взлёта ракеты: башни отходят, идёт отсчёт «три, два, один, пуск», ракета улетает, отделяются боковые блоки — «крест Королёва», и корабль выходит на орбиту. Так игра показывает полёты Петра Климука, Владимира Ковалёнка и Марины Василевской.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Особое внимание — женщинам. Марина Василевская — первая женщина-космонавт суверенной Беларуси: 23 марта 2024 года она полетела на МКС на корабле «Союз МС-25». В игре у неё особая золотая карточка.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Итоги. Игра создана и работает на любом компьютере с Windows. В ней девять веков истории, армии на 3D-карте, 17 женщин из истории Беларуси и анимации. Вывод: цель достигнута — играя, историю запомнить легче. А сам я узнал о подвиге белорусских женщин и научился программировать.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Спасибо за внимание! Готов ответить на ваши вопросы.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41A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141A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8745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788920"/>
            <a:ext cx="804672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A9B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7040880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B1F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/>
        </p:nvSpPr>
        <p:spPr>
          <a:xfrm>
            <a:off x="457200" y="4828032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Биончик Роман · Гимназия № 10 г. Минска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9744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E6A6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DARK">
    <p:bg>
      <p:bgPr>
        <a:solidFill>
          <a:srgbClr val="141A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7040880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/>
        </p:nvSpPr>
        <p:spPr>
          <a:xfrm>
            <a:off x="457200" y="4828032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B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Биончик Роман · Гимназия № 10 г. Минска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9744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A9B4A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9744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E6A6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ru.wikipedia.org/w/index.php?search=%D0%93%D0%BE%D0%BB%D0%BE%D0%B2%D0%B0%D1%87%D1%91%D0%B2%20%D0%9F%D0%B0%D0%B2%D0%B5%D0%BB%20%D0%AF%D0%BA%D0%BE%D0%B2%D0%BB%D0%B5%D0%B2%D0%B8%D1%87" TargetMode="External"/><Relationship Id="rId1" Type="http://schemas.openxmlformats.org/officeDocument/2006/relationships/image" Target="../media/image-1-1.jp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" Target="slide3.xml"/><Relationship Id="rId4" Type="http://schemas.openxmlformats.org/officeDocument/2006/relationships/slide" Target="slide7.xml"/><Relationship Id="rId6" Type="http://schemas.openxmlformats.org/officeDocument/2006/relationships/slide" Target="slide13.xml"/><Relationship Id="rId8" Type="http://schemas.openxmlformats.org/officeDocument/2006/relationships/slide" Target="slide17.xml"/><Relationship Id="rId10" Type="http://schemas.openxmlformats.org/officeDocument/2006/relationships/slide" Target="slide19.xml"/><Relationship Id="rId1" Type="http://schemas.openxmlformats.org/officeDocument/2006/relationships/image" Target="../media/image-2-1.png"/><Relationship Id="rId3" Type="http://schemas.openxmlformats.org/officeDocument/2006/relationships/image" Target="../media/image-2-2.png"/><Relationship Id="rId5" Type="http://schemas.openxmlformats.org/officeDocument/2006/relationships/image" Target="../media/image-2-3.png"/><Relationship Id="rId7" Type="http://schemas.openxmlformats.org/officeDocument/2006/relationships/image" Target="../media/image-2-4.png"/><Relationship Id="rId9" Type="http://schemas.openxmlformats.org/officeDocument/2006/relationships/image" Target="../media/image-2-5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image" Target="../media/image-3-1.jp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image" Target="../media/image-4-1.png"/><Relationship Id="rId3" Type="http://schemas.openxmlformats.org/officeDocument/2006/relationships/image" Target="../media/image-4-2.png"/><Relationship Id="rId4" Type="http://schemas.openxmlformats.org/officeDocument/2006/relationships/image" Target="../media/image-4-3.png"/><Relationship Id="rId5" Type="http://schemas.openxmlformats.org/officeDocument/2006/relationships/image" Target="../media/image-4-4.png"/><Relationship Id="rId6" Type="http://schemas.openxmlformats.org/officeDocument/2006/relationships/image" Target="../media/image-4-5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image" Target="../media/image-5-1.png"/><Relationship Id="rId3" Type="http://schemas.openxmlformats.org/officeDocument/2006/relationships/image" Target="../media/image-5-2.png"/><Relationship Id="rId4" Type="http://schemas.openxmlformats.org/officeDocument/2006/relationships/image" Target="../media/image-5-3.png"/><Relationship Id="rId5" Type="http://schemas.openxmlformats.org/officeDocument/2006/relationships/image" Target="../media/image-5-4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image" Target="../media/image-6-1.png"/><Relationship Id="rId3" Type="http://schemas.openxmlformats.org/officeDocument/2006/relationships/image" Target="../media/image-6-2.png"/><Relationship Id="rId4" Type="http://schemas.openxmlformats.org/officeDocument/2006/relationships/image" Target="../media/image-6-3.png"/><Relationship Id="rId5" Type="http://schemas.openxmlformats.org/officeDocument/2006/relationships/image" Target="../media/image-6-4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image" Target="../media/image-7-1.jp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image" Target="../media/image-8-1.jp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image" Target="../media/image-9-1.jpg"/><Relationship Id="rId3" Type="http://schemas.openxmlformats.org/officeDocument/2006/relationships/image" Target="../media/image-9-2.gif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image" Target="../media/image-10-1.png"/><Relationship Id="rId3" Type="http://schemas.openxmlformats.org/officeDocument/2006/relationships/image" Target="../media/image-10-2.png"/><Relationship Id="rId4" Type="http://schemas.openxmlformats.org/officeDocument/2006/relationships/image" Target="../media/image-10-3.png"/><Relationship Id="rId5" Type="http://schemas.openxmlformats.org/officeDocument/2006/relationships/image" Target="../media/image-10-4.png"/><Relationship Id="rId6" Type="http://schemas.openxmlformats.org/officeDocument/2006/relationships/image" Target="../media/image-10-5.jp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image" Target="../media/image-11-1.gif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image" Target="../media/image-12-1.jpg"/><Relationship Id="rId3" Type="http://schemas.openxmlformats.org/officeDocument/2006/relationships/image" Target="../media/image-12-2.jp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image" Target="../media/image-13-1.jp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hyperlink" Target="https://ru.wikipedia.org/w/index.php?search=%D0%9C%D0%B0%D0%B7%D0%B0%D0%BD%D0%B8%D0%BA%20%D0%95%D0%BB%D0%B5%D0%BD%D0%B0%20%D0%93%D1%80%D0%B8%D0%B3%D0%BE%D1%80%D1%8C%D0%B5%D0%B2%D0%BD%D0%B0" TargetMode="External"/><Relationship Id="rId3" Type="http://schemas.openxmlformats.org/officeDocument/2006/relationships/hyperlink" Target="https://ru.wikipedia.org/w/index.php?search=%D0%9E%D1%81%D0%B8%D0%BF%D0%BE%D0%B2%D0%B0%20%D0%9C%D0%B0%D1%80%D0%B8%D1%8F%20%D0%91%D0%BE%D1%80%D0%B8%D1%81%D0%BE%D0%B2%D0%BD%D0%B0" TargetMode="External"/><Relationship Id="rId4" Type="http://schemas.openxmlformats.org/officeDocument/2006/relationships/hyperlink" Target="https://ru.wikipedia.org/w/index.php?search=%D0%A2%D1%80%D0%BE%D1%8F%D0%BD%20%D0%9D%D0%B0%D0%B4%D0%B5%D0%B6%D0%B4%D0%B0%20%D0%92%D0%B8%D0%BA%D1%82%D0%BE%D1%80%D0%BE%D0%B2%D0%BD%D0%B0" TargetMode="External"/><Relationship Id="rId5" Type="http://schemas.openxmlformats.org/officeDocument/2006/relationships/image" Target="../media/image-14-1.jp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3" Type="http://schemas.openxmlformats.org/officeDocument/2006/relationships/hyperlink" Target="https://ru.wikipedia.org/w/index.php?search=%D0%97%D0%B5%D0%BD%D1%8C%D0%BA%D0%BE%D0%B2%D0%B0%20%D0%95%D1%84%D1%80%D0%BE%D1%81%D0%B8%D0%BD%D1%8C%D1%8F%20%D0%A1%D0%B0%D0%B2%D0%B5%D0%BB%D1%8C%D0%B5%D0%B2%D0%BD%D0%B0" TargetMode="External"/><Relationship Id="rId4" Type="http://schemas.openxmlformats.org/officeDocument/2006/relationships/hyperlink" Target="https://ru.wikipedia.org/w/index.php?search=%D0%9F%D0%BE%D1%80%D1%82%D0%BD%D0%BE%D0%B2%D0%B0%20%D0%97%D0%B8%D0%BD%D0%B0%D0%B8%D0%B4%D0%B0%20%D0%9C%D0%B0%D1%80%D1%82%D1%8B%D0%BD%D0%BE%D0%B2%D0%BD%D0%B0" TargetMode="External"/><Relationship Id="rId5" Type="http://schemas.openxmlformats.org/officeDocument/2006/relationships/hyperlink" Target="https://ru.wikipedia.org/w/index.php?search=%D0%A2%D1%83%D1%81%D0%BD%D0%BE%D0%BB%D0%BE%D0%B1%D0%BE%D0%B2%D0%B0-%D0%9C%D0%B0%D1%80%D1%87%D0%B5%D0%BD%D0%BA%D0%BE%20%D0%97%D0%B8%D0%BD%D0%B0%D0%B8%D0%B4%D0%B0%20%D0%9C%D0%B8%D1%85%D0%B0%D0%B9%D0%BB%D0%BE%D0%B2%D0%BD%D0%B0" TargetMode="External"/><Relationship Id="rId6" Type="http://schemas.openxmlformats.org/officeDocument/2006/relationships/hyperlink" Target="https://ru.wikipedia.org/w/index.php?search=%D0%9C%D0%B0%D1%81%D0%BB%D0%BE%D0%B2%D1%81%D0%BA%D0%B0%D1%8F%20%D0%90%D0%BD%D0%BD%D0%B0%20%D0%98%D0%B2%D0%B0%D0%BD%D0%BE%D0%B2%D0%BD%D0%B0" TargetMode="External"/><Relationship Id="rId7" Type="http://schemas.openxmlformats.org/officeDocument/2006/relationships/hyperlink" Target="https://ru.wikipedia.org/w/index.php?search=%D0%A5%D0%BE%D1%80%D1%83%D0%B6%D0%B0%D1%8F%20%D0%92%D0%B5%D1%80%D0%B0%20%D0%97%D0%B0%D1%85%D0%B0%D1%80%D0%BE%D0%B2%D0%BD%D0%B0" TargetMode="External"/><Relationship Id="rId2" Type="http://schemas.openxmlformats.org/officeDocument/2006/relationships/image" Target="../media/image-15-1.jpg"/><Relationship Id="rId8" Type="http://schemas.openxmlformats.org/officeDocument/2006/relationships/slideLayout" Target="../slideLayouts/slideLayout4.xml"/><Relationship Id="rId9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image" Target="../media/image-16-1.jpg"/><Relationship Id="rId3" Type="http://schemas.openxmlformats.org/officeDocument/2006/relationships/image" Target="../media/image-16-2.gif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3" Type="http://schemas.openxmlformats.org/officeDocument/2006/relationships/hyperlink" Target="https://ru.wikipedia.org/w/index.php?search=%D0%9A%D0%BB%D0%B8%D0%BC%D1%83%D0%BA%20%D0%9F%D1%91%D1%82%D1%80%20%D0%98%D0%BB%D1%8C%D0%B8%D1%87" TargetMode="External"/><Relationship Id="rId4" Type="http://schemas.openxmlformats.org/officeDocument/2006/relationships/hyperlink" Target="https://ru.wikipedia.org/w/index.php?search=%D0%9A%D0%BE%D0%B2%D0%B0%D0%BB%D1%91%D0%BD%D0%BE%D0%BA%20%D0%92%D0%BB%D0%B0%D0%B4%D0%B8%D0%BC%D0%B8%D1%80%20%D0%92%D0%B0%D1%81%D0%B8%D0%BB%D1%8C%D0%B5%D0%B2%D0%B8%D1%87" TargetMode="External"/><Relationship Id="rId5" Type="http://schemas.openxmlformats.org/officeDocument/2006/relationships/hyperlink" Target="https://ru.wikipedia.org/w/index.php?search=%D0%92%D0%B0%D1%81%D0%B8%D0%BB%D0%B5%D0%B2%D1%81%D0%BA%D0%B0%D1%8F%20%D0%9C%D0%B0%D1%80%D0%B8%D0%BD%D0%B0%20%D0%BA%D0%BE%D1%81%D0%BC%D0%BE%D0%BD%D0%B0%D0%B2%D1%82" TargetMode="External"/><Relationship Id="rId2" Type="http://schemas.openxmlformats.org/officeDocument/2006/relationships/image" Target="../media/image-17-1.gif"/><Relationship Id="rId6" Type="http://schemas.openxmlformats.org/officeDocument/2006/relationships/slideLayout" Target="../slideLayouts/slideLayout5.xml"/><Relationship Id="rId7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image" Target="../media/image-18-1.jpg"/><Relationship Id="rId3" Type="http://schemas.openxmlformats.org/officeDocument/2006/relationships/image" Target="../media/image-18-2.jpg"/><Relationship Id="rId4" Type="http://schemas.openxmlformats.org/officeDocument/2006/relationships/image" Target="../media/image-18-3.jpg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3" Type="http://schemas.openxmlformats.org/officeDocument/2006/relationships/hyperlink" Target="https://ru.wikipedia.org/w/index.php?search=%D0%96%D0%B5%D0%BD%D1%89%D0%B8%D0%BD%D1%8B%20%D0%93%D0%B5%D1%80%D0%BE%D0%B8%20%D0%A1%D0%BE%D0%B2%D0%B5%D1%82%D1%81%D0%BA%D0%BE%D0%B3%D0%BE%20%D0%A1%D0%BE%D1%8E%D0%B7%D0%B0%20%D0%91%D0%B5%D0%BB%D0%B0%D1%80%D1%83%D1%81%D1%8C" TargetMode="External"/><Relationship Id="rId4" Type="http://schemas.openxmlformats.org/officeDocument/2006/relationships/hyperlink" Target="https://ru.wikipedia.org/wiki/&#1041;&#1077;&#1083;&#1086;&#1088;&#1091;&#1089;&#1089;&#1080;&#1103;" TargetMode="External"/><Relationship Id="rId1" Type="http://schemas.openxmlformats.org/officeDocument/2006/relationships/image" Target="../media/image-20-1.jp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g" descr="/tmp/claude-0/-home-user-xy-/a67a51dc-14ac-57ee-b735-98b960f6acb5/scratchpad/pres/img/s4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557345"/>
          </a:xfrm>
          <a:prstGeom prst="rect">
            <a:avLst/>
          </a:prstGeom>
        </p:spPr>
      </p:pic>
      <p:sp>
        <p:nvSpPr>
          <p:cNvPr id="3" name="veil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41A17">
              <a:alpha val="55000"/>
            </a:srgbClr>
          </a:solidFill>
          <a:ln w="12700">
            <a:solidFill>
              <a:srgbClr val="141A17"/>
            </a:solidFill>
            <a:prstDash val="solid"/>
          </a:ln>
        </p:spPr>
      </p:sp>
      <p:sp>
        <p:nvSpPr>
          <p:cNvPr id="4" name="veil2"/>
          <p:cNvSpPr/>
          <p:nvPr/>
        </p:nvSpPr>
        <p:spPr>
          <a:xfrm>
            <a:off x="0" y="0"/>
            <a:ext cx="7315200" cy="5143500"/>
          </a:xfrm>
          <a:prstGeom prst="rect">
            <a:avLst/>
          </a:prstGeom>
          <a:solidFill>
            <a:srgbClr val="141A17">
              <a:alpha val="82000"/>
            </a:srgbClr>
          </a:solidFill>
          <a:ln w="12700">
            <a:solidFill>
              <a:srgbClr val="141A17"/>
            </a:solidFill>
            <a:prstDash val="solid"/>
          </a:ln>
        </p:spPr>
      </p:sp>
      <p:sp>
        <p:nvSpPr>
          <p:cNvPr id="5" name="eyebrow"/>
          <p:cNvSpPr txBox="1"/>
          <p:nvPr/>
        </p:nvSpPr>
        <p:spPr>
          <a:xfrm>
            <a:off x="548640" y="54864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Проект · компьютерная игра-стратегия</a:t>
            </a:r>
            <a:endParaRPr lang="en-US" sz="1300" dirty="0"/>
          </a:p>
        </p:txBody>
      </p:sp>
      <p:sp>
        <p:nvSpPr>
          <p:cNvPr id="6" name="titleText"/>
          <p:cNvSpPr txBox="1"/>
          <p:nvPr/>
        </p:nvSpPr>
        <p:spPr>
          <a:xfrm>
            <a:off x="548640" y="868680"/>
            <a:ext cx="6583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Судьба Республики Беларусь в объективе технологий</a:t>
            </a:r>
            <a:endParaRPr lang="en-US" sz="3200" dirty="0"/>
          </a:p>
        </p:txBody>
      </p:sp>
      <p:sp>
        <p:nvSpPr>
          <p:cNvPr id="7" name="subText"/>
          <p:cNvSpPr txBox="1"/>
          <p:nvPr/>
        </p:nvSpPr>
        <p:spPr>
          <a:xfrm>
            <a:off x="548640" y="2514600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8EC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История Беларуси с 1100 по 2026 год: технологии, стройки, люди — и подвиг женщин-героинь в Великой Отечественной войне</a:t>
            </a:r>
            <a:endParaRPr lang="en-US" sz="1500" dirty="0"/>
          </a:p>
        </p:txBody>
      </p:sp>
      <p:sp>
        <p:nvSpPr>
          <p:cNvPr id="8" name="authorBox"/>
          <p:cNvSpPr txBox="1"/>
          <p:nvPr/>
        </p:nvSpPr>
        <p:spPr>
          <a:xfrm>
            <a:off x="548640" y="3520440"/>
            <a:ext cx="6583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Автор: Биончик Роман, учащийся 6 «Г» класса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u="sng" dirty="0">
                <a:solidFill>
                  <a:srgbClr val="E8ECEA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Кто такой П. Я. Головачёв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ГУО «Гимназия № 10 г. Минска имени дважды Героя Советского Союза П. Я. Головачёва»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A9B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Минск, 2026</a:t>
            </a:r>
            <a:endParaRPr lang="en-US" sz="13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6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650"/>
                            </p:stCondLst>
                            <p:childTnLst>
                              <p:par>
                                <p:cTn id="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1300"/>
                            </p:stCondLst>
                            <p:childTnLst>
                              <p:par>
                                <p:cTn id="12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Содержание</a:t>
            </a:r>
            <a:endParaRPr lang="en-US" sz="3600" dirty="0"/>
          </a:p>
        </p:txBody>
      </p:sp>
      <p:sp>
        <p:nvSpPr>
          <p:cNvPr id="3" name="hint"/>
          <p:cNvSpPr txBox="1"/>
          <p:nvPr/>
        </p:nvSpPr>
        <p:spPr>
          <a:xfrm>
            <a:off x="548640" y="10515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9B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Нажмите на раздел, чтобы перейти к нему</a:t>
            </a:r>
            <a:endParaRPr lang="en-US" sz="1300" dirty="0"/>
          </a:p>
        </p:txBody>
      </p:sp>
      <p:sp>
        <p:nvSpPr>
          <p:cNvPr id="4" name="c1"/>
          <p:cNvSpPr/>
          <p:nvPr/>
        </p:nvSpPr>
        <p:spPr>
          <a:xfrm>
            <a:off x="548640" y="1554480"/>
            <a:ext cx="8046720" cy="530352"/>
          </a:xfrm>
          <a:prstGeom prst="roundRect">
            <a:avLst>
              <a:gd name="adj" fmla="val 13793"/>
            </a:avLst>
          </a:prstGeom>
          <a:solidFill>
            <a:srgbClr val="1F2723"/>
          </a:solidFill>
          <a:ln w="9525">
            <a:solidFill>
              <a:srgbClr val="33403A"/>
            </a:solidFill>
            <a:prstDash val="solid"/>
          </a:ln>
        </p:spPr>
      </p:sp>
      <p:sp>
        <p:nvSpPr>
          <p:cNvPr id="5" name="c1bCircle"/>
          <p:cNvSpPr/>
          <p:nvPr/>
        </p:nvSpPr>
        <p:spPr>
          <a:xfrm>
            <a:off x="658368" y="1618488"/>
            <a:ext cx="402336" cy="402336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pic>
        <p:nvPicPr>
          <p:cNvPr id="6" name="c1b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4929" y="1715049"/>
            <a:ext cx="209215" cy="209215"/>
          </a:xfrm>
          <a:prstGeom prst="rect">
            <a:avLst/>
          </a:prstGeom>
        </p:spPr>
      </p:pic>
      <p:sp>
        <p:nvSpPr>
          <p:cNvPr id="7" name="c1t"/>
          <p:cNvSpPr txBox="1"/>
          <p:nvPr/>
        </p:nvSpPr>
        <p:spPr>
          <a:xfrm>
            <a:off x="1234440" y="1554480"/>
            <a:ext cx="7223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action="ppaction://hlinksldjump" tooltip="Перейти: Защита проекта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1. Защита проекта</a:t>
            </a:r>
            <a:pPr indent="0" marL="0">
              <a:buNone/>
            </a:pPr>
            <a:r>
              <a:rPr lang="en-US" sz="1200" dirty="0">
                <a:solidFill>
                  <a:srgbClr val="A9B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актуальность, цель, задачи, как сделана игра</a:t>
            </a:r>
            <a:endParaRPr lang="en-US" sz="1700" dirty="0"/>
          </a:p>
        </p:txBody>
      </p:sp>
      <p:sp>
        <p:nvSpPr>
          <p:cNvPr id="8" name="c2"/>
          <p:cNvSpPr/>
          <p:nvPr/>
        </p:nvSpPr>
        <p:spPr>
          <a:xfrm>
            <a:off x="548640" y="2194560"/>
            <a:ext cx="8046720" cy="530352"/>
          </a:xfrm>
          <a:prstGeom prst="roundRect">
            <a:avLst>
              <a:gd name="adj" fmla="val 13793"/>
            </a:avLst>
          </a:prstGeom>
          <a:solidFill>
            <a:srgbClr val="1F2723"/>
          </a:solidFill>
          <a:ln w="9525">
            <a:solidFill>
              <a:srgbClr val="33403A"/>
            </a:solidFill>
            <a:prstDash val="solid"/>
          </a:ln>
        </p:spPr>
      </p:sp>
      <p:sp>
        <p:nvSpPr>
          <p:cNvPr id="9" name="c2bCircle"/>
          <p:cNvSpPr/>
          <p:nvPr/>
        </p:nvSpPr>
        <p:spPr>
          <a:xfrm>
            <a:off x="658368" y="2258568"/>
            <a:ext cx="402336" cy="402336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pic>
        <p:nvPicPr>
          <p:cNvPr id="10" name="c2b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929" y="2355129"/>
            <a:ext cx="209215" cy="209215"/>
          </a:xfrm>
          <a:prstGeom prst="rect">
            <a:avLst/>
          </a:prstGeom>
        </p:spPr>
      </p:pic>
      <p:sp>
        <p:nvSpPr>
          <p:cNvPr id="11" name="c2t"/>
          <p:cNvSpPr txBox="1"/>
          <p:nvPr/>
        </p:nvSpPr>
        <p:spPr>
          <a:xfrm>
            <a:off x="1234440" y="2194560"/>
            <a:ext cx="7223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action="ppaction://hlinksldjump" tooltip="Перейти: Как играть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2. Как играть</a:t>
            </a:r>
            <a:pPr indent="0" marL="0">
              <a:buNone/>
            </a:pPr>
            <a:r>
              <a:rPr lang="en-US" sz="1200" dirty="0">
                <a:solidFill>
                  <a:srgbClr val="A9B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ход, армии, снабжение, 3D-карта, задания</a:t>
            </a:r>
            <a:endParaRPr lang="en-US" sz="1700" dirty="0"/>
          </a:p>
        </p:txBody>
      </p:sp>
      <p:sp>
        <p:nvSpPr>
          <p:cNvPr id="12" name="c3"/>
          <p:cNvSpPr/>
          <p:nvPr/>
        </p:nvSpPr>
        <p:spPr>
          <a:xfrm>
            <a:off x="548640" y="2834640"/>
            <a:ext cx="8046720" cy="530352"/>
          </a:xfrm>
          <a:prstGeom prst="roundRect">
            <a:avLst>
              <a:gd name="adj" fmla="val 13793"/>
            </a:avLst>
          </a:prstGeom>
          <a:solidFill>
            <a:srgbClr val="1F2723"/>
          </a:solidFill>
          <a:ln w="9525">
            <a:solidFill>
              <a:srgbClr val="33403A"/>
            </a:solidFill>
            <a:prstDash val="solid"/>
          </a:ln>
        </p:spPr>
      </p:sp>
      <p:sp>
        <p:nvSpPr>
          <p:cNvPr id="13" name="c3bCircle"/>
          <p:cNvSpPr/>
          <p:nvPr/>
        </p:nvSpPr>
        <p:spPr>
          <a:xfrm>
            <a:off x="658368" y="2898648"/>
            <a:ext cx="402336" cy="402336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pic>
        <p:nvPicPr>
          <p:cNvPr id="14" name="c3b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4929" y="2995209"/>
            <a:ext cx="209215" cy="209215"/>
          </a:xfrm>
          <a:prstGeom prst="rect">
            <a:avLst/>
          </a:prstGeom>
        </p:spPr>
      </p:pic>
      <p:sp>
        <p:nvSpPr>
          <p:cNvPr id="15" name="c3t"/>
          <p:cNvSpPr txBox="1"/>
          <p:nvPr/>
        </p:nvSpPr>
        <p:spPr>
          <a:xfrm>
            <a:off x="1234440" y="2834640"/>
            <a:ext cx="7223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 action="ppaction://hlinksldjump" tooltip="Перейти: Великая Отечественная война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3. Великая Отечественная война</a:t>
            </a:r>
            <a:pPr indent="0" marL="0">
              <a:buNone/>
            </a:pPr>
            <a:r>
              <a:rPr lang="en-US" sz="1200" dirty="0">
                <a:solidFill>
                  <a:srgbClr val="A9B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оккупация, «Возмездие», героини, освобождение</a:t>
            </a:r>
            <a:endParaRPr lang="en-US" sz="1700" dirty="0"/>
          </a:p>
        </p:txBody>
      </p:sp>
      <p:sp>
        <p:nvSpPr>
          <p:cNvPr id="16" name="c4"/>
          <p:cNvSpPr/>
          <p:nvPr/>
        </p:nvSpPr>
        <p:spPr>
          <a:xfrm>
            <a:off x="548640" y="3474720"/>
            <a:ext cx="8046720" cy="530352"/>
          </a:xfrm>
          <a:prstGeom prst="roundRect">
            <a:avLst>
              <a:gd name="adj" fmla="val 13793"/>
            </a:avLst>
          </a:prstGeom>
          <a:solidFill>
            <a:srgbClr val="1F2723"/>
          </a:solidFill>
          <a:ln w="9525">
            <a:solidFill>
              <a:srgbClr val="33403A"/>
            </a:solidFill>
            <a:prstDash val="solid"/>
          </a:ln>
        </p:spPr>
      </p:sp>
      <p:sp>
        <p:nvSpPr>
          <p:cNvPr id="17" name="c4bCircle"/>
          <p:cNvSpPr/>
          <p:nvPr/>
        </p:nvSpPr>
        <p:spPr>
          <a:xfrm>
            <a:off x="658368" y="3538728"/>
            <a:ext cx="402336" cy="402336"/>
          </a:xfrm>
          <a:prstGeom prst="ellipse">
            <a:avLst/>
          </a:prstGeom>
          <a:solidFill>
            <a:srgbClr val="3B6EA5"/>
          </a:solidFill>
          <a:ln w="12700">
            <a:solidFill>
              <a:srgbClr val="3B6EA5"/>
            </a:solidFill>
            <a:prstDash val="solid"/>
          </a:ln>
        </p:spPr>
      </p:sp>
      <p:pic>
        <p:nvPicPr>
          <p:cNvPr id="18" name="c4bIcon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4929" y="3635289"/>
            <a:ext cx="209215" cy="209215"/>
          </a:xfrm>
          <a:prstGeom prst="rect">
            <a:avLst/>
          </a:prstGeom>
        </p:spPr>
      </p:pic>
      <p:sp>
        <p:nvSpPr>
          <p:cNvPr id="19" name="c4t"/>
          <p:cNvSpPr txBox="1"/>
          <p:nvPr/>
        </p:nvSpPr>
        <p:spPr>
          <a:xfrm>
            <a:off x="1234440" y="3474720"/>
            <a:ext cx="7223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" action="ppaction://hlinksldjump" tooltip="Перейти: Космос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4. Космос</a:t>
            </a:r>
            <a:pPr indent="0" marL="0">
              <a:buNone/>
            </a:pPr>
            <a:r>
              <a:rPr lang="en-US" sz="1200" dirty="0">
                <a:solidFill>
                  <a:srgbClr val="A9B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взлёт ракеты, первая женщина-космонавт Беларуси</a:t>
            </a:r>
            <a:endParaRPr lang="en-US" sz="1700" dirty="0"/>
          </a:p>
        </p:txBody>
      </p:sp>
      <p:sp>
        <p:nvSpPr>
          <p:cNvPr id="20" name="c5"/>
          <p:cNvSpPr/>
          <p:nvPr/>
        </p:nvSpPr>
        <p:spPr>
          <a:xfrm>
            <a:off x="548640" y="4114800"/>
            <a:ext cx="8046720" cy="530352"/>
          </a:xfrm>
          <a:prstGeom prst="roundRect">
            <a:avLst>
              <a:gd name="adj" fmla="val 13793"/>
            </a:avLst>
          </a:prstGeom>
          <a:solidFill>
            <a:srgbClr val="1F2723"/>
          </a:solidFill>
          <a:ln w="9525">
            <a:solidFill>
              <a:srgbClr val="33403A"/>
            </a:solidFill>
            <a:prstDash val="solid"/>
          </a:ln>
        </p:spPr>
      </p:sp>
      <p:sp>
        <p:nvSpPr>
          <p:cNvPr id="21" name="c5bCircle"/>
          <p:cNvSpPr/>
          <p:nvPr/>
        </p:nvSpPr>
        <p:spPr>
          <a:xfrm>
            <a:off x="658368" y="4178808"/>
            <a:ext cx="402336" cy="402336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pic>
        <p:nvPicPr>
          <p:cNvPr id="22" name="c5bIcon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4929" y="4275369"/>
            <a:ext cx="209215" cy="209215"/>
          </a:xfrm>
          <a:prstGeom prst="rect">
            <a:avLst/>
          </a:prstGeom>
        </p:spPr>
      </p:pic>
      <p:sp>
        <p:nvSpPr>
          <p:cNvPr id="23" name="c5t"/>
          <p:cNvSpPr txBox="1"/>
          <p:nvPr/>
        </p:nvSpPr>
        <p:spPr>
          <a:xfrm>
            <a:off x="1234440" y="4114800"/>
            <a:ext cx="7223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0" action="ppaction://hlinksldjump" tooltip="Перейти: Итоги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5. Итоги</a:t>
            </a:r>
            <a:pPr indent="0" marL="0">
              <a:buNone/>
            </a:pPr>
            <a:r>
              <a:rPr lang="en-US" sz="1200" dirty="0">
                <a:solidFill>
                  <a:srgbClr val="A9B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результаты, выводы, вопросы</a:t>
            </a:r>
            <a:endParaRPr lang="en-US" sz="17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8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650"/>
                            </p:stCondLst>
                            <p:childTnLst>
                              <p:par>
                                <p:cTn id="21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300"/>
                            </p:stCondLst>
                            <p:childTnLst>
                              <p:par>
                                <p:cTn id="38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3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1950"/>
                            </p:stCondLst>
                            <p:childTnLst>
                              <p:par>
                                <p:cTn id="55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7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1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5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6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9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0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1" fill="hold">
                            <p:stCondLst>
                              <p:cond delay="2600"/>
                            </p:stCondLst>
                            <p:childTnLst>
                              <p:par>
                                <p:cTn id="72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4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5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8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9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0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2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3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4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6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7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11" grpId="0" animBg="1"/>
      <p:bldP spid="15" grpId="0" animBg="1"/>
      <p:bldP spid="19" grpId="0" animBg="1"/>
      <p:bldP spid="23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7040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1F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Актуальность и цель проекта</a:t>
            </a:r>
            <a:endParaRPr lang="en-US" sz="2800" dirty="0"/>
          </a:p>
        </p:txBody>
      </p:sp>
      <p:sp>
        <p:nvSpPr>
          <p:cNvPr id="3" name="homeBtn"/>
          <p:cNvSpPr/>
          <p:nvPr/>
        </p:nvSpPr>
        <p:spPr>
          <a:xfrm>
            <a:off x="7635240" y="347472"/>
            <a:ext cx="1051560" cy="365760"/>
          </a:xfrm>
          <a:prstGeom prst="roundRect">
            <a:avLst>
              <a:gd name="adj" fmla="val 20000"/>
            </a:avLst>
          </a:prstGeom>
          <a:solidFill>
            <a:srgbClr val="F1F4F2"/>
          </a:solidFill>
          <a:ln w="9525">
            <a:solidFill>
              <a:srgbClr val="D5DCD8"/>
            </a:solidFill>
            <a:prstDash val="solid"/>
          </a:ln>
        </p:spPr>
      </p:sp>
      <p:sp>
        <p:nvSpPr>
          <p:cNvPr id="4" name="homeText"/>
          <p:cNvSpPr txBox="1"/>
          <p:nvPr/>
        </p:nvSpPr>
        <p:spPr>
          <a:xfrm>
            <a:off x="7635240" y="347472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u="sng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action="ppaction://hlinksldjump" tooltip="К содержанию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≡ Содержание</a:t>
            </a:r>
            <a:endParaRPr lang="en-US" sz="1100" dirty="0"/>
          </a:p>
        </p:txBody>
      </p:sp>
      <p:sp>
        <p:nvSpPr>
          <p:cNvPr id="5" name="actBox"/>
          <p:cNvSpPr txBox="1"/>
          <p:nvPr/>
        </p:nvSpPr>
        <p:spPr>
          <a:xfrm>
            <a:off x="457200" y="1051560"/>
            <a:ext cx="39319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Актуальность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История Беларуси — это не только даты, но и люди, изобретения и стройки. В игре можно «прожить» девять веков и увидеть, как технологии меняли страну.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Особое место — подвиг женщин Беларуси в Великой Отечественной войне.</a:t>
            </a:r>
            <a:endParaRPr lang="en-US" sz="1400" dirty="0"/>
          </a:p>
        </p:txBody>
      </p:sp>
      <p:sp>
        <p:nvSpPr>
          <p:cNvPr id="6" name="goalBoxBg"/>
          <p:cNvSpPr/>
          <p:nvPr/>
        </p:nvSpPr>
        <p:spPr>
          <a:xfrm>
            <a:off x="457200" y="3063240"/>
            <a:ext cx="3931920" cy="1463040"/>
          </a:xfrm>
          <a:prstGeom prst="roundRect">
            <a:avLst>
              <a:gd name="adj" fmla="val 5000"/>
            </a:avLst>
          </a:prstGeom>
          <a:solidFill>
            <a:srgbClr val="F1F4F2"/>
          </a:solidFill>
          <a:ln w="9525">
            <a:solidFill>
              <a:srgbClr val="D5DCD8"/>
            </a:solidFill>
            <a:prstDash val="solid"/>
          </a:ln>
        </p:spPr>
      </p:sp>
      <p:sp>
        <p:nvSpPr>
          <p:cNvPr id="7" name="goalBox"/>
          <p:cNvSpPr txBox="1"/>
          <p:nvPr/>
        </p:nvSpPr>
        <p:spPr>
          <a:xfrm>
            <a:off x="640080" y="3154680"/>
            <a:ext cx="3611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Цель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Создать компьютерную игру, в которой история Беларуси изучается через технологии, стройки и судьбы людей.</a:t>
            </a:r>
            <a:endParaRPr lang="en-US" sz="1400" dirty="0"/>
          </a:p>
        </p:txBody>
      </p:sp>
      <p:pic>
        <p:nvPicPr>
          <p:cNvPr id="8" name="shot" descr="/tmp/claude-0/-home-user-xy-/a67a51dc-14ac-57ee-b735-98b960f6acb5/scratchpad/pres/img/s90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097280"/>
            <a:ext cx="4023360" cy="2445232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pic>
      <p:sp>
        <p:nvSpPr>
          <p:cNvPr id="9" name="caption"/>
          <p:cNvSpPr txBox="1"/>
          <p:nvPr/>
        </p:nvSpPr>
        <p:spPr>
          <a:xfrm>
            <a:off x="4663440" y="3588232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E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Начало эпохи «Великая Отечественная война» в игре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9744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E6A6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0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650"/>
                            </p:stCondLst>
                            <p:childTnLst>
                              <p:par>
                                <p:cTn id="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300"/>
                            </p:stCondLst>
                            <p:childTnLst>
                              <p:par>
                                <p:cTn id="1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7040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1F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Задачи проекта</a:t>
            </a:r>
            <a:endParaRPr lang="en-US" sz="2800" dirty="0"/>
          </a:p>
        </p:txBody>
      </p:sp>
      <p:sp>
        <p:nvSpPr>
          <p:cNvPr id="3" name="homeBtn"/>
          <p:cNvSpPr/>
          <p:nvPr/>
        </p:nvSpPr>
        <p:spPr>
          <a:xfrm>
            <a:off x="7635240" y="347472"/>
            <a:ext cx="1051560" cy="365760"/>
          </a:xfrm>
          <a:prstGeom prst="roundRect">
            <a:avLst>
              <a:gd name="adj" fmla="val 20000"/>
            </a:avLst>
          </a:prstGeom>
          <a:solidFill>
            <a:srgbClr val="F1F4F2"/>
          </a:solidFill>
          <a:ln w="9525">
            <a:solidFill>
              <a:srgbClr val="D5DCD8"/>
            </a:solidFill>
            <a:prstDash val="solid"/>
          </a:ln>
        </p:spPr>
      </p:sp>
      <p:sp>
        <p:nvSpPr>
          <p:cNvPr id="4" name="homeText"/>
          <p:cNvSpPr txBox="1"/>
          <p:nvPr/>
        </p:nvSpPr>
        <p:spPr>
          <a:xfrm>
            <a:off x="7635240" y="347472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u="sng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action="ppaction://hlinksldjump" tooltip="К содержанию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≡ Содержание</a:t>
            </a:r>
            <a:endParaRPr lang="en-US" sz="1100" dirty="0"/>
          </a:p>
        </p:txBody>
      </p:sp>
      <p:sp>
        <p:nvSpPr>
          <p:cNvPr id="5" name="st0"/>
          <p:cNvSpPr/>
          <p:nvPr/>
        </p:nvSpPr>
        <p:spPr>
          <a:xfrm>
            <a:off x="457200" y="1280160"/>
            <a:ext cx="1517904" cy="3017520"/>
          </a:xfrm>
          <a:prstGeom prst="roundRect">
            <a:avLst>
              <a:gd name="adj" fmla="val 6024"/>
            </a:avLst>
          </a:prstGeom>
          <a:solidFill>
            <a:srgbClr val="F1F4F2"/>
          </a:solidFill>
          <a:ln w="9525">
            <a:solidFill>
              <a:srgbClr val="D5DCD8"/>
            </a:solidFill>
            <a:prstDash val="solid"/>
          </a:ln>
        </p:spPr>
      </p:sp>
      <p:sp>
        <p:nvSpPr>
          <p:cNvPr id="6" name="st0bCircle"/>
          <p:cNvSpPr/>
          <p:nvPr/>
        </p:nvSpPr>
        <p:spPr>
          <a:xfrm>
            <a:off x="896112" y="1463040"/>
            <a:ext cx="640080" cy="640080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pic>
        <p:nvPicPr>
          <p:cNvPr id="7" name="st0b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9731" y="1616659"/>
            <a:ext cx="332842" cy="332842"/>
          </a:xfrm>
          <a:prstGeom prst="rect">
            <a:avLst/>
          </a:prstGeom>
        </p:spPr>
      </p:pic>
      <p:sp>
        <p:nvSpPr>
          <p:cNvPr id="8" name="st0n"/>
          <p:cNvSpPr txBox="1"/>
          <p:nvPr/>
        </p:nvSpPr>
        <p:spPr>
          <a:xfrm>
            <a:off x="566928" y="1371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81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st0t"/>
          <p:cNvSpPr txBox="1"/>
          <p:nvPr/>
        </p:nvSpPr>
        <p:spPr>
          <a:xfrm>
            <a:off x="566928" y="2286000"/>
            <a:ext cx="129844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Изучить историю</a:t>
            </a:r>
            <a:endParaRPr lang="en-US" sz="15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5E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 школьному конспекту, учебнику и энциклопедиям</a:t>
            </a:r>
            <a:endParaRPr lang="en-US" sz="1500" dirty="0"/>
          </a:p>
        </p:txBody>
      </p:sp>
      <p:sp>
        <p:nvSpPr>
          <p:cNvPr id="10" name="st1"/>
          <p:cNvSpPr/>
          <p:nvPr/>
        </p:nvSpPr>
        <p:spPr>
          <a:xfrm>
            <a:off x="2084832" y="1280160"/>
            <a:ext cx="1517904" cy="3017520"/>
          </a:xfrm>
          <a:prstGeom prst="roundRect">
            <a:avLst>
              <a:gd name="adj" fmla="val 6024"/>
            </a:avLst>
          </a:prstGeom>
          <a:solidFill>
            <a:srgbClr val="F1F4F2"/>
          </a:solidFill>
          <a:ln w="9525">
            <a:solidFill>
              <a:srgbClr val="D5DCD8"/>
            </a:solidFill>
            <a:prstDash val="solid"/>
          </a:ln>
        </p:spPr>
      </p:sp>
      <p:sp>
        <p:nvSpPr>
          <p:cNvPr id="11" name="st1bCircle"/>
          <p:cNvSpPr/>
          <p:nvPr/>
        </p:nvSpPr>
        <p:spPr>
          <a:xfrm>
            <a:off x="2523744" y="1463040"/>
            <a:ext cx="640080" cy="640080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pic>
        <p:nvPicPr>
          <p:cNvPr id="12" name="st1b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77363" y="1616659"/>
            <a:ext cx="332842" cy="332842"/>
          </a:xfrm>
          <a:prstGeom prst="rect">
            <a:avLst/>
          </a:prstGeom>
        </p:spPr>
      </p:pic>
      <p:sp>
        <p:nvSpPr>
          <p:cNvPr id="13" name="st1n"/>
          <p:cNvSpPr txBox="1"/>
          <p:nvPr/>
        </p:nvSpPr>
        <p:spPr>
          <a:xfrm>
            <a:off x="2194560" y="1371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7D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4" name="st1t"/>
          <p:cNvSpPr txBox="1"/>
          <p:nvPr/>
        </p:nvSpPr>
        <p:spPr>
          <a:xfrm>
            <a:off x="2194560" y="2286000"/>
            <a:ext cx="129844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Придумать правила</a:t>
            </a:r>
            <a:endParaRPr lang="en-US" sz="15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5E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эпохи, ресурсы, события, войны, задания</a:t>
            </a:r>
            <a:endParaRPr lang="en-US" sz="1500" dirty="0"/>
          </a:p>
        </p:txBody>
      </p:sp>
      <p:sp>
        <p:nvSpPr>
          <p:cNvPr id="15" name="st2"/>
          <p:cNvSpPr/>
          <p:nvPr/>
        </p:nvSpPr>
        <p:spPr>
          <a:xfrm>
            <a:off x="3712464" y="1280160"/>
            <a:ext cx="1517904" cy="3017520"/>
          </a:xfrm>
          <a:prstGeom prst="roundRect">
            <a:avLst>
              <a:gd name="adj" fmla="val 6024"/>
            </a:avLst>
          </a:prstGeom>
          <a:solidFill>
            <a:srgbClr val="F1F4F2"/>
          </a:solidFill>
          <a:ln w="9525">
            <a:solidFill>
              <a:srgbClr val="D5DCD8"/>
            </a:solidFill>
            <a:prstDash val="solid"/>
          </a:ln>
        </p:spPr>
      </p:sp>
      <p:sp>
        <p:nvSpPr>
          <p:cNvPr id="16" name="st2bCircle"/>
          <p:cNvSpPr/>
          <p:nvPr/>
        </p:nvSpPr>
        <p:spPr>
          <a:xfrm>
            <a:off x="4151376" y="1463040"/>
            <a:ext cx="640080" cy="640080"/>
          </a:xfrm>
          <a:prstGeom prst="ellipse">
            <a:avLst/>
          </a:prstGeom>
          <a:solidFill>
            <a:srgbClr val="3B6EA5"/>
          </a:solidFill>
          <a:ln w="12700">
            <a:solidFill>
              <a:srgbClr val="3B6EA5"/>
            </a:solidFill>
            <a:prstDash val="solid"/>
          </a:ln>
        </p:spPr>
      </p:sp>
      <p:pic>
        <p:nvPicPr>
          <p:cNvPr id="17" name="st2b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04995" y="1616659"/>
            <a:ext cx="332842" cy="332842"/>
          </a:xfrm>
          <a:prstGeom prst="rect">
            <a:avLst/>
          </a:prstGeom>
        </p:spPr>
      </p:pic>
      <p:sp>
        <p:nvSpPr>
          <p:cNvPr id="18" name="st2n"/>
          <p:cNvSpPr txBox="1"/>
          <p:nvPr/>
        </p:nvSpPr>
        <p:spPr>
          <a:xfrm>
            <a:off x="3822192" y="1371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6EA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9" name="st2t"/>
          <p:cNvSpPr txBox="1"/>
          <p:nvPr/>
        </p:nvSpPr>
        <p:spPr>
          <a:xfrm>
            <a:off x="3822192" y="2286000"/>
            <a:ext cx="129844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Создать 3D-модели</a:t>
            </a:r>
            <a:endParaRPr lang="en-US" sz="15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5E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Blender: карта, постройки, портреты, фигурки</a:t>
            </a:r>
            <a:endParaRPr lang="en-US" sz="1500" dirty="0"/>
          </a:p>
        </p:txBody>
      </p:sp>
      <p:sp>
        <p:nvSpPr>
          <p:cNvPr id="20" name="st3"/>
          <p:cNvSpPr/>
          <p:nvPr/>
        </p:nvSpPr>
        <p:spPr>
          <a:xfrm>
            <a:off x="5340096" y="1280160"/>
            <a:ext cx="1517904" cy="3017520"/>
          </a:xfrm>
          <a:prstGeom prst="roundRect">
            <a:avLst>
              <a:gd name="adj" fmla="val 6024"/>
            </a:avLst>
          </a:prstGeom>
          <a:solidFill>
            <a:srgbClr val="F1F4F2"/>
          </a:solidFill>
          <a:ln w="9525">
            <a:solidFill>
              <a:srgbClr val="D5DCD8"/>
            </a:solidFill>
            <a:prstDash val="solid"/>
          </a:ln>
        </p:spPr>
      </p:sp>
      <p:sp>
        <p:nvSpPr>
          <p:cNvPr id="21" name="st3bCircle"/>
          <p:cNvSpPr/>
          <p:nvPr/>
        </p:nvSpPr>
        <p:spPr>
          <a:xfrm>
            <a:off x="5779008" y="1463040"/>
            <a:ext cx="640080" cy="640080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pic>
        <p:nvPicPr>
          <p:cNvPr id="22" name="st3b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32627" y="1616659"/>
            <a:ext cx="332842" cy="332842"/>
          </a:xfrm>
          <a:prstGeom prst="rect">
            <a:avLst/>
          </a:prstGeom>
        </p:spPr>
      </p:pic>
      <p:sp>
        <p:nvSpPr>
          <p:cNvPr id="23" name="st3n"/>
          <p:cNvSpPr txBox="1"/>
          <p:nvPr/>
        </p:nvSpPr>
        <p:spPr>
          <a:xfrm>
            <a:off x="5449824" y="1371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24" name="st3t"/>
          <p:cNvSpPr txBox="1"/>
          <p:nvPr/>
        </p:nvSpPr>
        <p:spPr>
          <a:xfrm>
            <a:off x="5449824" y="2286000"/>
            <a:ext cx="129844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Написать программу</a:t>
            </a:r>
            <a:endParaRPr lang="en-US" sz="15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5E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языке C для Windows, без сторонних библиотек</a:t>
            </a:r>
            <a:endParaRPr lang="en-US" sz="1500" dirty="0"/>
          </a:p>
        </p:txBody>
      </p:sp>
      <p:sp>
        <p:nvSpPr>
          <p:cNvPr id="25" name="st4"/>
          <p:cNvSpPr/>
          <p:nvPr/>
        </p:nvSpPr>
        <p:spPr>
          <a:xfrm>
            <a:off x="6967728" y="1280160"/>
            <a:ext cx="1517904" cy="3017520"/>
          </a:xfrm>
          <a:prstGeom prst="roundRect">
            <a:avLst>
              <a:gd name="adj" fmla="val 6024"/>
            </a:avLst>
          </a:prstGeom>
          <a:solidFill>
            <a:srgbClr val="F1F4F2"/>
          </a:solidFill>
          <a:ln w="9525">
            <a:solidFill>
              <a:srgbClr val="D5DCD8"/>
            </a:solidFill>
            <a:prstDash val="solid"/>
          </a:ln>
        </p:spPr>
      </p:sp>
      <p:sp>
        <p:nvSpPr>
          <p:cNvPr id="26" name="st4bCircle"/>
          <p:cNvSpPr/>
          <p:nvPr/>
        </p:nvSpPr>
        <p:spPr>
          <a:xfrm>
            <a:off x="7406640" y="1463040"/>
            <a:ext cx="640080" cy="640080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pic>
        <p:nvPicPr>
          <p:cNvPr id="27" name="st4b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60259" y="1616659"/>
            <a:ext cx="332842" cy="332842"/>
          </a:xfrm>
          <a:prstGeom prst="rect">
            <a:avLst/>
          </a:prstGeom>
        </p:spPr>
      </p:pic>
      <p:sp>
        <p:nvSpPr>
          <p:cNvPr id="28" name="st4n"/>
          <p:cNvSpPr txBox="1"/>
          <p:nvPr/>
        </p:nvSpPr>
        <p:spPr>
          <a:xfrm>
            <a:off x="7077456" y="1371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7D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800" dirty="0"/>
          </a:p>
        </p:txBody>
      </p:sp>
      <p:sp>
        <p:nvSpPr>
          <p:cNvPr id="29" name="st4t"/>
          <p:cNvSpPr txBox="1"/>
          <p:nvPr/>
        </p:nvSpPr>
        <p:spPr>
          <a:xfrm>
            <a:off x="7077456" y="2286000"/>
            <a:ext cx="129844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Проверить игру</a:t>
            </a:r>
            <a:endParaRPr lang="en-US" sz="15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5E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автоматическими тестами: тысячи проверок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9744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E6A6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  <p:transition spd="med">
    <p:wipe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8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650"/>
                            </p:stCondLst>
                            <p:childTnLst>
                              <p:par>
                                <p:cTn id="25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1300"/>
                            </p:stCondLst>
                            <p:childTnLst>
                              <p:par>
                                <p:cTn id="46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3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4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7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0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1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4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5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6" fill="hold">
                            <p:stCondLst>
                              <p:cond delay="1950"/>
                            </p:stCondLst>
                            <p:childTnLst>
                              <p:par>
                                <p:cTn id="67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9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0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3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4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7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8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1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2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5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6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7" fill="hold">
                            <p:stCondLst>
                              <p:cond delay="2600"/>
                            </p:stCondLst>
                            <p:childTnLst>
                              <p:par>
                                <p:cTn id="88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0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1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2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4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5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6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8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9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2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3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4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6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7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3" grpId="0" animBg="1"/>
      <p:bldP spid="14" grpId="0" animBg="1"/>
      <p:bldP spid="18" grpId="0" animBg="1"/>
      <p:bldP spid="19" grpId="0" animBg="1"/>
      <p:bldP spid="23" grpId="0" animBg="1"/>
      <p:bldP spid="24" grpId="0" animBg="1"/>
      <p:bldP spid="28" grpId="0" animBg="1"/>
      <p:bldP spid="29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7040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1F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Как сделана игра</a:t>
            </a:r>
            <a:endParaRPr lang="en-US" sz="2800" dirty="0"/>
          </a:p>
        </p:txBody>
      </p:sp>
      <p:sp>
        <p:nvSpPr>
          <p:cNvPr id="3" name="homeBtn"/>
          <p:cNvSpPr/>
          <p:nvPr/>
        </p:nvSpPr>
        <p:spPr>
          <a:xfrm>
            <a:off x="7635240" y="347472"/>
            <a:ext cx="1051560" cy="365760"/>
          </a:xfrm>
          <a:prstGeom prst="roundRect">
            <a:avLst>
              <a:gd name="adj" fmla="val 20000"/>
            </a:avLst>
          </a:prstGeom>
          <a:solidFill>
            <a:srgbClr val="F1F4F2"/>
          </a:solidFill>
          <a:ln w="9525">
            <a:solidFill>
              <a:srgbClr val="D5DCD8"/>
            </a:solidFill>
            <a:prstDash val="solid"/>
          </a:ln>
        </p:spPr>
      </p:sp>
      <p:sp>
        <p:nvSpPr>
          <p:cNvPr id="4" name="homeText"/>
          <p:cNvSpPr txBox="1"/>
          <p:nvPr/>
        </p:nvSpPr>
        <p:spPr>
          <a:xfrm>
            <a:off x="7635240" y="347472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u="sng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action="ppaction://hlinksldjump" tooltip="К содержанию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≡ Содержание</a:t>
            </a:r>
            <a:endParaRPr lang="en-US" sz="1100" dirty="0"/>
          </a:p>
        </p:txBody>
      </p:sp>
      <p:sp>
        <p:nvSpPr>
          <p:cNvPr id="5" name="tr0Circle"/>
          <p:cNvSpPr/>
          <p:nvPr/>
        </p:nvSpPr>
        <p:spPr>
          <a:xfrm>
            <a:off x="457200" y="1097280"/>
            <a:ext cx="502920" cy="502920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pic>
        <p:nvPicPr>
          <p:cNvPr id="6" name="tr0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7901" y="1217981"/>
            <a:ext cx="261518" cy="261518"/>
          </a:xfrm>
          <a:prstGeom prst="rect">
            <a:avLst/>
          </a:prstGeom>
        </p:spPr>
      </p:pic>
      <p:sp>
        <p:nvSpPr>
          <p:cNvPr id="7" name="tr0t"/>
          <p:cNvSpPr txBox="1"/>
          <p:nvPr/>
        </p:nvSpPr>
        <p:spPr>
          <a:xfrm>
            <a:off x="1097280" y="105156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Язык C и Windows API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5E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один файл .exe, без интернета и сторонних библиотек</a:t>
            </a:r>
            <a:endParaRPr lang="en-US" sz="1500" dirty="0"/>
          </a:p>
        </p:txBody>
      </p:sp>
      <p:sp>
        <p:nvSpPr>
          <p:cNvPr id="8" name="tr1Circle"/>
          <p:cNvSpPr/>
          <p:nvPr/>
        </p:nvSpPr>
        <p:spPr>
          <a:xfrm>
            <a:off x="457200" y="1965960"/>
            <a:ext cx="502920" cy="502920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pic>
        <p:nvPicPr>
          <p:cNvPr id="9" name="tr1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901" y="2086661"/>
            <a:ext cx="261518" cy="261518"/>
          </a:xfrm>
          <a:prstGeom prst="rect">
            <a:avLst/>
          </a:prstGeom>
        </p:spPr>
      </p:pic>
      <p:sp>
        <p:nvSpPr>
          <p:cNvPr id="10" name="tr1t"/>
          <p:cNvSpPr txBox="1"/>
          <p:nvPr/>
        </p:nvSpPr>
        <p:spPr>
          <a:xfrm>
            <a:off x="1097280" y="192024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Своя 3D-графика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5E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карту Беларуси можно вращать, наклонять и приближать</a:t>
            </a:r>
            <a:endParaRPr lang="en-US" sz="1500" dirty="0"/>
          </a:p>
        </p:txBody>
      </p:sp>
      <p:sp>
        <p:nvSpPr>
          <p:cNvPr id="11" name="tr2Circle"/>
          <p:cNvSpPr/>
          <p:nvPr/>
        </p:nvSpPr>
        <p:spPr>
          <a:xfrm>
            <a:off x="457200" y="2834640"/>
            <a:ext cx="502920" cy="502920"/>
          </a:xfrm>
          <a:prstGeom prst="ellipse">
            <a:avLst/>
          </a:prstGeom>
          <a:solidFill>
            <a:srgbClr val="3B6EA5"/>
          </a:solidFill>
          <a:ln w="12700">
            <a:solidFill>
              <a:srgbClr val="3B6EA5"/>
            </a:solidFill>
            <a:prstDash val="solid"/>
          </a:ln>
        </p:spPr>
      </p:sp>
      <p:pic>
        <p:nvPicPr>
          <p:cNvPr id="12" name="tr2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7901" y="2955341"/>
            <a:ext cx="261518" cy="261518"/>
          </a:xfrm>
          <a:prstGeom prst="rect">
            <a:avLst/>
          </a:prstGeom>
        </p:spPr>
      </p:pic>
      <p:sp>
        <p:nvSpPr>
          <p:cNvPr id="13" name="tr2t"/>
          <p:cNvSpPr txBox="1"/>
          <p:nvPr/>
        </p:nvSpPr>
        <p:spPr>
          <a:xfrm>
            <a:off x="1097280" y="278892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Blender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5E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карта, постройки, 87 портретов, 16 фигурок войск</a:t>
            </a:r>
            <a:endParaRPr lang="en-US" sz="1500" dirty="0"/>
          </a:p>
        </p:txBody>
      </p:sp>
      <p:sp>
        <p:nvSpPr>
          <p:cNvPr id="14" name="tr3Circle"/>
          <p:cNvSpPr/>
          <p:nvPr/>
        </p:nvSpPr>
        <p:spPr>
          <a:xfrm>
            <a:off x="457200" y="3703320"/>
            <a:ext cx="502920" cy="502920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pic>
        <p:nvPicPr>
          <p:cNvPr id="15" name="tr3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7901" y="3824021"/>
            <a:ext cx="261518" cy="261518"/>
          </a:xfrm>
          <a:prstGeom prst="rect">
            <a:avLst/>
          </a:prstGeom>
        </p:spPr>
      </p:pic>
      <p:sp>
        <p:nvSpPr>
          <p:cNvPr id="16" name="tr3t"/>
          <p:cNvSpPr txBox="1"/>
          <p:nvPr/>
        </p:nvSpPr>
        <p:spPr>
          <a:xfrm>
            <a:off x="1097280" y="365760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Автотесты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5E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бот проходит игру до 2026 года и проверяет всё</a:t>
            </a:r>
            <a:endParaRPr lang="en-US" sz="1500" dirty="0"/>
          </a:p>
        </p:txBody>
      </p:sp>
      <p:sp>
        <p:nvSpPr>
          <p:cNvPr id="17" name="k0"/>
          <p:cNvSpPr/>
          <p:nvPr/>
        </p:nvSpPr>
        <p:spPr>
          <a:xfrm>
            <a:off x="4754880" y="1097280"/>
            <a:ext cx="1874520" cy="1051560"/>
          </a:xfrm>
          <a:prstGeom prst="roundRect">
            <a:avLst>
              <a:gd name="adj" fmla="val 6957"/>
            </a:avLst>
          </a:prstGeom>
          <a:solidFill>
            <a:srgbClr val="F1F4F2"/>
          </a:solidFill>
          <a:ln w="9525">
            <a:solidFill>
              <a:srgbClr val="D5DCD8"/>
            </a:solidFill>
            <a:prstDash val="solid"/>
          </a:ln>
        </p:spPr>
      </p:sp>
      <p:sp>
        <p:nvSpPr>
          <p:cNvPr id="18" name="k0t"/>
          <p:cNvSpPr txBox="1"/>
          <p:nvPr/>
        </p:nvSpPr>
        <p:spPr>
          <a:xfrm>
            <a:off x="4754880" y="1170432"/>
            <a:ext cx="1874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81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112</a:t>
            </a:r>
            <a:endParaRPr lang="en-US" sz="3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E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технологий</a:t>
            </a:r>
            <a:endParaRPr lang="en-US" sz="3200" dirty="0"/>
          </a:p>
        </p:txBody>
      </p:sp>
      <p:sp>
        <p:nvSpPr>
          <p:cNvPr id="19" name="k1"/>
          <p:cNvSpPr/>
          <p:nvPr/>
        </p:nvSpPr>
        <p:spPr>
          <a:xfrm>
            <a:off x="6766560" y="1097280"/>
            <a:ext cx="1874520" cy="1051560"/>
          </a:xfrm>
          <a:prstGeom prst="roundRect">
            <a:avLst>
              <a:gd name="adj" fmla="val 6957"/>
            </a:avLst>
          </a:prstGeom>
          <a:solidFill>
            <a:srgbClr val="F1F4F2"/>
          </a:solidFill>
          <a:ln w="9525">
            <a:solidFill>
              <a:srgbClr val="D5DCD8"/>
            </a:solidFill>
            <a:prstDash val="solid"/>
          </a:ln>
        </p:spPr>
      </p:sp>
      <p:sp>
        <p:nvSpPr>
          <p:cNvPr id="20" name="k1t"/>
          <p:cNvSpPr txBox="1"/>
          <p:nvPr/>
        </p:nvSpPr>
        <p:spPr>
          <a:xfrm>
            <a:off x="6766560" y="1170432"/>
            <a:ext cx="1874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E7D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69</a:t>
            </a:r>
            <a:endParaRPr lang="en-US" sz="3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E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строек</a:t>
            </a:r>
            <a:endParaRPr lang="en-US" sz="3200" dirty="0"/>
          </a:p>
        </p:txBody>
      </p:sp>
      <p:sp>
        <p:nvSpPr>
          <p:cNvPr id="21" name="k2"/>
          <p:cNvSpPr/>
          <p:nvPr/>
        </p:nvSpPr>
        <p:spPr>
          <a:xfrm>
            <a:off x="4754880" y="2286000"/>
            <a:ext cx="1874520" cy="1051560"/>
          </a:xfrm>
          <a:prstGeom prst="roundRect">
            <a:avLst>
              <a:gd name="adj" fmla="val 6957"/>
            </a:avLst>
          </a:prstGeom>
          <a:solidFill>
            <a:srgbClr val="F1F4F2"/>
          </a:solidFill>
          <a:ln w="9525">
            <a:solidFill>
              <a:srgbClr val="D5DCD8"/>
            </a:solidFill>
            <a:prstDash val="solid"/>
          </a:ln>
        </p:spPr>
      </p:sp>
      <p:sp>
        <p:nvSpPr>
          <p:cNvPr id="22" name="k2t"/>
          <p:cNvSpPr txBox="1"/>
          <p:nvPr/>
        </p:nvSpPr>
        <p:spPr>
          <a:xfrm>
            <a:off x="4754880" y="2359152"/>
            <a:ext cx="1874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81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52</a:t>
            </a:r>
            <a:endParaRPr lang="en-US" sz="3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E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деятеля</a:t>
            </a:r>
            <a:endParaRPr lang="en-US" sz="3200" dirty="0"/>
          </a:p>
        </p:txBody>
      </p:sp>
      <p:sp>
        <p:nvSpPr>
          <p:cNvPr id="23" name="k3"/>
          <p:cNvSpPr/>
          <p:nvPr/>
        </p:nvSpPr>
        <p:spPr>
          <a:xfrm>
            <a:off x="6766560" y="2286000"/>
            <a:ext cx="1874520" cy="1051560"/>
          </a:xfrm>
          <a:prstGeom prst="roundRect">
            <a:avLst>
              <a:gd name="adj" fmla="val 6957"/>
            </a:avLst>
          </a:prstGeom>
          <a:solidFill>
            <a:srgbClr val="F1F4F2"/>
          </a:solidFill>
          <a:ln w="9525">
            <a:solidFill>
              <a:srgbClr val="D5DCD8"/>
            </a:solidFill>
            <a:prstDash val="solid"/>
          </a:ln>
        </p:spPr>
      </p:sp>
      <p:sp>
        <p:nvSpPr>
          <p:cNvPr id="24" name="k3t"/>
          <p:cNvSpPr txBox="1"/>
          <p:nvPr/>
        </p:nvSpPr>
        <p:spPr>
          <a:xfrm>
            <a:off x="6766560" y="2359152"/>
            <a:ext cx="1874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E7D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99</a:t>
            </a:r>
            <a:endParaRPr lang="en-US" sz="3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E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событий</a:t>
            </a:r>
            <a:endParaRPr lang="en-US" sz="3200" dirty="0"/>
          </a:p>
        </p:txBody>
      </p:sp>
      <p:sp>
        <p:nvSpPr>
          <p:cNvPr id="25" name="k4"/>
          <p:cNvSpPr/>
          <p:nvPr/>
        </p:nvSpPr>
        <p:spPr>
          <a:xfrm>
            <a:off x="4754880" y="3474720"/>
            <a:ext cx="1874520" cy="1051560"/>
          </a:xfrm>
          <a:prstGeom prst="roundRect">
            <a:avLst>
              <a:gd name="adj" fmla="val 6957"/>
            </a:avLst>
          </a:prstGeom>
          <a:solidFill>
            <a:srgbClr val="F1F4F2"/>
          </a:solidFill>
          <a:ln w="9525">
            <a:solidFill>
              <a:srgbClr val="D5DCD8"/>
            </a:solidFill>
            <a:prstDash val="solid"/>
          </a:ln>
        </p:spPr>
      </p:sp>
      <p:sp>
        <p:nvSpPr>
          <p:cNvPr id="26" name="k4t"/>
          <p:cNvSpPr txBox="1"/>
          <p:nvPr/>
        </p:nvSpPr>
        <p:spPr>
          <a:xfrm>
            <a:off x="4754880" y="3547872"/>
            <a:ext cx="1874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81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107</a:t>
            </a:r>
            <a:endParaRPr lang="en-US" sz="3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E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вопросов летописца</a:t>
            </a:r>
            <a:endParaRPr lang="en-US" sz="3200" dirty="0"/>
          </a:p>
        </p:txBody>
      </p:sp>
      <p:sp>
        <p:nvSpPr>
          <p:cNvPr id="27" name="k5"/>
          <p:cNvSpPr/>
          <p:nvPr/>
        </p:nvSpPr>
        <p:spPr>
          <a:xfrm>
            <a:off x="6766560" y="3474720"/>
            <a:ext cx="1874520" cy="1051560"/>
          </a:xfrm>
          <a:prstGeom prst="roundRect">
            <a:avLst>
              <a:gd name="adj" fmla="val 6957"/>
            </a:avLst>
          </a:prstGeom>
          <a:solidFill>
            <a:srgbClr val="F1F4F2"/>
          </a:solidFill>
          <a:ln w="9525">
            <a:solidFill>
              <a:srgbClr val="D5DCD8"/>
            </a:solidFill>
            <a:prstDash val="solid"/>
          </a:ln>
        </p:spPr>
      </p:sp>
      <p:sp>
        <p:nvSpPr>
          <p:cNvPr id="28" name="k5t"/>
          <p:cNvSpPr txBox="1"/>
          <p:nvPr/>
        </p:nvSpPr>
        <p:spPr>
          <a:xfrm>
            <a:off x="6766560" y="3547872"/>
            <a:ext cx="1874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E7D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48</a:t>
            </a:r>
            <a:endParaRPr lang="en-US" sz="3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E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заданий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9744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E6A6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21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650"/>
                            </p:stCondLst>
                            <p:childTnLst>
                              <p:par>
                                <p:cTn id="17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1300"/>
                            </p:stCondLst>
                            <p:childTnLst>
                              <p:par>
                                <p:cTn id="30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950"/>
                            </p:stCondLst>
                            <p:childTnLst>
                              <p:par>
                                <p:cTn id="43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3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600"/>
                            </p:stCondLst>
                            <p:childTnLst>
                              <p:par>
                                <p:cTn id="56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8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9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3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4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6" fill="hold">
                            <p:stCondLst>
                              <p:cond delay="3250"/>
                            </p:stCondLst>
                            <p:childTnLst>
                              <p:par>
                                <p:cTn id="67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9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0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4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5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7" fill="hold">
                            <p:stCondLst>
                              <p:cond delay="3900"/>
                            </p:stCondLst>
                            <p:childTnLst>
                              <p:par>
                                <p:cTn id="78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0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1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5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6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8" fill="hold">
                            <p:stCondLst>
                              <p:cond delay="4550"/>
                            </p:stCondLst>
                            <p:childTnLst>
                              <p:par>
                                <p:cTn id="89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1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2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6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7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8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9" fill="hold">
                            <p:stCondLst>
                              <p:cond delay="5200"/>
                            </p:stCondLst>
                            <p:childTnLst>
                              <p:par>
                                <p:cTn id="100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2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3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4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7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8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0" fill="hold">
                            <p:stCondLst>
                              <p:cond delay="5850"/>
                            </p:stCondLst>
                            <p:childTnLst>
                              <p:par>
                                <p:cTn id="111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3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4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8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9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0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10" grpId="0" animBg="1"/>
      <p:bldP spid="13" grpId="0" animBg="1"/>
      <p:bldP spid="16" grpId="0" animBg="1"/>
      <p:bldP spid="18" grpId="0" animBg="1"/>
      <p:bldP spid="20" grpId="0" animBg="1"/>
      <p:bldP spid="22" grpId="0" animBg="1"/>
      <p:bldP spid="24" grpId="0" animBg="1"/>
      <p:bldP spid="26" grpId="0" animBg="1"/>
      <p:bldP spid="28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7040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1F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нового в моей игре</a:t>
            </a:r>
            <a:endParaRPr lang="en-US" sz="2800" dirty="0"/>
          </a:p>
        </p:txBody>
      </p:sp>
      <p:sp>
        <p:nvSpPr>
          <p:cNvPr id="3" name="homeBtn"/>
          <p:cNvSpPr/>
          <p:nvPr/>
        </p:nvSpPr>
        <p:spPr>
          <a:xfrm>
            <a:off x="7635240" y="347472"/>
            <a:ext cx="1051560" cy="365760"/>
          </a:xfrm>
          <a:prstGeom prst="roundRect">
            <a:avLst>
              <a:gd name="adj" fmla="val 20000"/>
            </a:avLst>
          </a:prstGeom>
          <a:solidFill>
            <a:srgbClr val="F1F4F2"/>
          </a:solidFill>
          <a:ln w="9525">
            <a:solidFill>
              <a:srgbClr val="D5DCD8"/>
            </a:solidFill>
            <a:prstDash val="solid"/>
          </a:ln>
        </p:spPr>
      </p:sp>
      <p:sp>
        <p:nvSpPr>
          <p:cNvPr id="4" name="homeText"/>
          <p:cNvSpPr txBox="1"/>
          <p:nvPr/>
        </p:nvSpPr>
        <p:spPr>
          <a:xfrm>
            <a:off x="7635240" y="347472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u="sng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action="ppaction://hlinksldjump" tooltip="К содержанию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≡ Содержание</a:t>
            </a:r>
            <a:endParaRPr lang="en-US" sz="1100" dirty="0"/>
          </a:p>
        </p:txBody>
      </p:sp>
      <p:sp>
        <p:nvSpPr>
          <p:cNvPr id="5" name="nv0"/>
          <p:cNvSpPr/>
          <p:nvPr/>
        </p:nvSpPr>
        <p:spPr>
          <a:xfrm>
            <a:off x="457200" y="1143000"/>
            <a:ext cx="4023360" cy="1600200"/>
          </a:xfrm>
          <a:prstGeom prst="roundRect">
            <a:avLst>
              <a:gd name="adj" fmla="val 5714"/>
            </a:avLst>
          </a:prstGeom>
          <a:solidFill>
            <a:srgbClr val="F1F4F2"/>
          </a:solidFill>
          <a:ln w="9525">
            <a:solidFill>
              <a:srgbClr val="D5DCD8"/>
            </a:solidFill>
            <a:prstDash val="solid"/>
          </a:ln>
        </p:spPr>
      </p:sp>
      <p:sp>
        <p:nvSpPr>
          <p:cNvPr id="6" name="nv0bCircle"/>
          <p:cNvSpPr/>
          <p:nvPr/>
        </p:nvSpPr>
        <p:spPr>
          <a:xfrm>
            <a:off x="685800" y="1417320"/>
            <a:ext cx="731520" cy="731520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pic>
        <p:nvPicPr>
          <p:cNvPr id="7" name="nv0b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1365" y="1592885"/>
            <a:ext cx="380390" cy="380390"/>
          </a:xfrm>
          <a:prstGeom prst="rect">
            <a:avLst/>
          </a:prstGeom>
        </p:spPr>
      </p:pic>
      <p:sp>
        <p:nvSpPr>
          <p:cNvPr id="8" name="nv0t"/>
          <p:cNvSpPr txBox="1"/>
          <p:nvPr/>
        </p:nvSpPr>
        <p:spPr>
          <a:xfrm>
            <a:off x="1600200" y="1325880"/>
            <a:ext cx="26974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Армии на 3D-карте</a:t>
            </a:r>
            <a:endParaRPr lang="en-US" sz="17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E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 в стратегии HOI: сам двигаешь войска, строишь железные дороги снабжения</a:t>
            </a:r>
            <a:endParaRPr lang="en-US" sz="1700" dirty="0"/>
          </a:p>
        </p:txBody>
      </p:sp>
      <p:sp>
        <p:nvSpPr>
          <p:cNvPr id="9" name="nv1"/>
          <p:cNvSpPr/>
          <p:nvPr/>
        </p:nvSpPr>
        <p:spPr>
          <a:xfrm>
            <a:off x="4617720" y="1143000"/>
            <a:ext cx="4023360" cy="1600200"/>
          </a:xfrm>
          <a:prstGeom prst="roundRect">
            <a:avLst>
              <a:gd name="adj" fmla="val 5714"/>
            </a:avLst>
          </a:prstGeom>
          <a:solidFill>
            <a:srgbClr val="F1F4F2"/>
          </a:solidFill>
          <a:ln w="9525">
            <a:solidFill>
              <a:srgbClr val="D5DCD8"/>
            </a:solidFill>
            <a:prstDash val="solid"/>
          </a:ln>
        </p:spPr>
      </p:sp>
      <p:sp>
        <p:nvSpPr>
          <p:cNvPr id="10" name="nv1bCircle"/>
          <p:cNvSpPr/>
          <p:nvPr/>
        </p:nvSpPr>
        <p:spPr>
          <a:xfrm>
            <a:off x="4846320" y="1417320"/>
            <a:ext cx="731520" cy="731520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pic>
        <p:nvPicPr>
          <p:cNvPr id="11" name="nv1b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1885" y="1592885"/>
            <a:ext cx="380390" cy="380390"/>
          </a:xfrm>
          <a:prstGeom prst="rect">
            <a:avLst/>
          </a:prstGeom>
        </p:spPr>
      </p:pic>
      <p:sp>
        <p:nvSpPr>
          <p:cNvPr id="12" name="nv1t"/>
          <p:cNvSpPr txBox="1"/>
          <p:nvPr/>
        </p:nvSpPr>
        <p:spPr>
          <a:xfrm>
            <a:off x="5760720" y="1325880"/>
            <a:ext cx="26974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женщин истории</a:t>
            </a:r>
            <a:endParaRPr lang="en-US" sz="17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E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 Франтишки Уршули Радзивилл до Марины Василевской</a:t>
            </a:r>
            <a:endParaRPr lang="en-US" sz="1700" dirty="0"/>
          </a:p>
        </p:txBody>
      </p:sp>
      <p:sp>
        <p:nvSpPr>
          <p:cNvPr id="13" name="nv2"/>
          <p:cNvSpPr/>
          <p:nvPr/>
        </p:nvSpPr>
        <p:spPr>
          <a:xfrm>
            <a:off x="457200" y="2926080"/>
            <a:ext cx="4023360" cy="1600200"/>
          </a:xfrm>
          <a:prstGeom prst="roundRect">
            <a:avLst>
              <a:gd name="adj" fmla="val 5714"/>
            </a:avLst>
          </a:prstGeom>
          <a:solidFill>
            <a:srgbClr val="F1F4F2"/>
          </a:solidFill>
          <a:ln w="9525">
            <a:solidFill>
              <a:srgbClr val="D5DCD8"/>
            </a:solidFill>
            <a:prstDash val="solid"/>
          </a:ln>
        </p:spPr>
      </p:sp>
      <p:sp>
        <p:nvSpPr>
          <p:cNvPr id="14" name="nv2bCircle"/>
          <p:cNvSpPr/>
          <p:nvPr/>
        </p:nvSpPr>
        <p:spPr>
          <a:xfrm>
            <a:off x="685800" y="3200400"/>
            <a:ext cx="731520" cy="731520"/>
          </a:xfrm>
          <a:prstGeom prst="ellipse">
            <a:avLst/>
          </a:prstGeom>
          <a:solidFill>
            <a:srgbClr val="3B6EA5"/>
          </a:solidFill>
          <a:ln w="12700">
            <a:solidFill>
              <a:srgbClr val="3B6EA5"/>
            </a:solidFill>
            <a:prstDash val="solid"/>
          </a:ln>
        </p:spPr>
      </p:sp>
      <p:pic>
        <p:nvPicPr>
          <p:cNvPr id="15" name="nv2b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1365" y="3375965"/>
            <a:ext cx="380390" cy="380390"/>
          </a:xfrm>
          <a:prstGeom prst="rect">
            <a:avLst/>
          </a:prstGeom>
        </p:spPr>
      </p:pic>
      <p:sp>
        <p:nvSpPr>
          <p:cNvPr id="16" name="nv2t"/>
          <p:cNvSpPr txBox="1"/>
          <p:nvPr/>
        </p:nvSpPr>
        <p:spPr>
          <a:xfrm>
            <a:off x="1600200" y="3108960"/>
            <a:ext cx="26974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Взлёт ракеты</a:t>
            </a:r>
            <a:endParaRPr lang="en-US" sz="17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E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анимация полётов Климука, Ковалёнка и Василевской</a:t>
            </a:r>
            <a:endParaRPr lang="en-US" sz="1700" dirty="0"/>
          </a:p>
        </p:txBody>
      </p:sp>
      <p:sp>
        <p:nvSpPr>
          <p:cNvPr id="17" name="nv3"/>
          <p:cNvSpPr/>
          <p:nvPr/>
        </p:nvSpPr>
        <p:spPr>
          <a:xfrm>
            <a:off x="4617720" y="2926080"/>
            <a:ext cx="4023360" cy="1600200"/>
          </a:xfrm>
          <a:prstGeom prst="roundRect">
            <a:avLst>
              <a:gd name="adj" fmla="val 5714"/>
            </a:avLst>
          </a:prstGeom>
          <a:solidFill>
            <a:srgbClr val="F1F4F2"/>
          </a:solidFill>
          <a:ln w="9525">
            <a:solidFill>
              <a:srgbClr val="D5DCD8"/>
            </a:solidFill>
            <a:prstDash val="solid"/>
          </a:ln>
        </p:spPr>
      </p:sp>
      <p:sp>
        <p:nvSpPr>
          <p:cNvPr id="18" name="nv3bCircle"/>
          <p:cNvSpPr/>
          <p:nvPr/>
        </p:nvSpPr>
        <p:spPr>
          <a:xfrm>
            <a:off x="4846320" y="3200400"/>
            <a:ext cx="731520" cy="731520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pic>
        <p:nvPicPr>
          <p:cNvPr id="19" name="nv3b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1885" y="3375965"/>
            <a:ext cx="380390" cy="380390"/>
          </a:xfrm>
          <a:prstGeom prst="rect">
            <a:avLst/>
          </a:prstGeom>
        </p:spPr>
      </p:pic>
      <p:sp>
        <p:nvSpPr>
          <p:cNvPr id="20" name="nv3t"/>
          <p:cNvSpPr txBox="1"/>
          <p:nvPr/>
        </p:nvSpPr>
        <p:spPr>
          <a:xfrm>
            <a:off x="5760720" y="3108960"/>
            <a:ext cx="26974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Героини-фигурки</a:t>
            </a:r>
            <a:endParaRPr lang="en-US" sz="17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E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все фигурки войск — женщины-героини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9744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E6A6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1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650"/>
                            </p:stCondLst>
                            <p:childTnLst>
                              <p:par>
                                <p:cTn id="21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300"/>
                            </p:stCondLst>
                            <p:childTnLst>
                              <p:par>
                                <p:cTn id="38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3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1950"/>
                            </p:stCondLst>
                            <p:childTnLst>
                              <p:par>
                                <p:cTn id="55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7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8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1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5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6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9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0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2" grpId="0" animBg="1"/>
      <p:bldP spid="16" grpId="0" animBg="1"/>
      <p:bldP spid="20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7040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1F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Как играть: главный экран</a:t>
            </a:r>
            <a:endParaRPr lang="en-US" sz="2800" dirty="0"/>
          </a:p>
        </p:txBody>
      </p:sp>
      <p:sp>
        <p:nvSpPr>
          <p:cNvPr id="3" name="homeBtn"/>
          <p:cNvSpPr/>
          <p:nvPr/>
        </p:nvSpPr>
        <p:spPr>
          <a:xfrm>
            <a:off x="7635240" y="347472"/>
            <a:ext cx="1051560" cy="365760"/>
          </a:xfrm>
          <a:prstGeom prst="roundRect">
            <a:avLst>
              <a:gd name="adj" fmla="val 20000"/>
            </a:avLst>
          </a:prstGeom>
          <a:solidFill>
            <a:srgbClr val="F1F4F2"/>
          </a:solidFill>
          <a:ln w="9525">
            <a:solidFill>
              <a:srgbClr val="D5DCD8"/>
            </a:solidFill>
            <a:prstDash val="solid"/>
          </a:ln>
        </p:spPr>
      </p:sp>
      <p:sp>
        <p:nvSpPr>
          <p:cNvPr id="4" name="homeText"/>
          <p:cNvSpPr txBox="1"/>
          <p:nvPr/>
        </p:nvSpPr>
        <p:spPr>
          <a:xfrm>
            <a:off x="7635240" y="347472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u="sng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action="ppaction://hlinksldjump" tooltip="К содержанию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≡ Содержание</a:t>
            </a:r>
            <a:endParaRPr lang="en-US" sz="1100" dirty="0"/>
          </a:p>
        </p:txBody>
      </p:sp>
      <p:pic>
        <p:nvPicPr>
          <p:cNvPr id="5" name="shot" descr="/tmp/claude-0/-home-user-xy-/a67a51dc-14ac-57ee-b735-98b960f6acb5/scratchpad/pres/img/s95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5669280" cy="3445554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pic>
      <p:sp>
        <p:nvSpPr>
          <p:cNvPr id="6" name="m1"/>
          <p:cNvSpPr/>
          <p:nvPr/>
        </p:nvSpPr>
        <p:spPr>
          <a:xfrm>
            <a:off x="912666" y="1059022"/>
            <a:ext cx="310896" cy="310896"/>
          </a:xfrm>
          <a:prstGeom prst="ellipse">
            <a:avLst/>
          </a:prstGeom>
          <a:solidFill>
            <a:srgbClr val="C8102E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m1t"/>
          <p:cNvSpPr txBox="1"/>
          <p:nvPr/>
        </p:nvSpPr>
        <p:spPr>
          <a:xfrm>
            <a:off x="912666" y="105902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m2"/>
          <p:cNvSpPr/>
          <p:nvPr/>
        </p:nvSpPr>
        <p:spPr>
          <a:xfrm>
            <a:off x="2745407" y="1417425"/>
            <a:ext cx="310896" cy="310896"/>
          </a:xfrm>
          <a:prstGeom prst="ellipse">
            <a:avLst/>
          </a:prstGeom>
          <a:solidFill>
            <a:srgbClr val="C8102E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m2t"/>
          <p:cNvSpPr txBox="1"/>
          <p:nvPr/>
        </p:nvSpPr>
        <p:spPr>
          <a:xfrm>
            <a:off x="2745407" y="141742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m3"/>
          <p:cNvSpPr/>
          <p:nvPr/>
        </p:nvSpPr>
        <p:spPr>
          <a:xfrm>
            <a:off x="1523580" y="3013946"/>
            <a:ext cx="310896" cy="310896"/>
          </a:xfrm>
          <a:prstGeom prst="ellipse">
            <a:avLst/>
          </a:prstGeom>
          <a:solidFill>
            <a:srgbClr val="C8102E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m3t"/>
          <p:cNvSpPr txBox="1"/>
          <p:nvPr/>
        </p:nvSpPr>
        <p:spPr>
          <a:xfrm>
            <a:off x="1523580" y="301394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2" name="m4"/>
          <p:cNvSpPr/>
          <p:nvPr/>
        </p:nvSpPr>
        <p:spPr>
          <a:xfrm>
            <a:off x="4333783" y="1612918"/>
            <a:ext cx="310896" cy="310896"/>
          </a:xfrm>
          <a:prstGeom prst="ellipse">
            <a:avLst/>
          </a:prstGeom>
          <a:solidFill>
            <a:srgbClr val="C8102E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m4t"/>
          <p:cNvSpPr txBox="1"/>
          <p:nvPr/>
        </p:nvSpPr>
        <p:spPr>
          <a:xfrm>
            <a:off x="4333783" y="161291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4" name="m5"/>
          <p:cNvSpPr/>
          <p:nvPr/>
        </p:nvSpPr>
        <p:spPr>
          <a:xfrm>
            <a:off x="5506738" y="1026440"/>
            <a:ext cx="310896" cy="310896"/>
          </a:xfrm>
          <a:prstGeom prst="ellipse">
            <a:avLst/>
          </a:prstGeom>
          <a:solidFill>
            <a:srgbClr val="C8102E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5" name="m5t"/>
          <p:cNvSpPr txBox="1"/>
          <p:nvPr/>
        </p:nvSpPr>
        <p:spPr>
          <a:xfrm>
            <a:off x="5506738" y="1026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16" name="legend"/>
          <p:cNvSpPr txBox="1"/>
          <p:nvPr/>
        </p:nvSpPr>
        <p:spPr>
          <a:xfrm>
            <a:off x="6355080" y="1051560"/>
            <a:ext cx="23774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Год, казна, знания, производство, население</a:t>
            </a:r>
            <a:endParaRPr lang="en-US" sz="13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Лента эпох: от 1100 до 2026 года</a:t>
            </a:r>
            <a:endParaRPr lang="en-US" sz="13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3D-карта: города, армии, железные дороги</a:t>
            </a:r>
            <a:endParaRPr lang="en-US" sz="13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Вкладки: технологии, стройки, деятели, армия…</a:t>
            </a:r>
            <a:endParaRPr lang="en-US" sz="13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«Завершить ход» — следующий год</a:t>
            </a:r>
            <a:endParaRPr lang="en-US" sz="1300" dirty="0"/>
          </a:p>
        </p:txBody>
      </p:sp>
      <p:sp>
        <p:nvSpPr>
          <p:cNvPr id="17" name="caption"/>
          <p:cNvSpPr txBox="1"/>
          <p:nvPr/>
        </p:nvSpPr>
        <p:spPr>
          <a:xfrm>
            <a:off x="457200" y="4542834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E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Кадр игры: 1943 год, освобождение Могилёвщины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9744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E6A6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6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650"/>
                            </p:stCondLst>
                            <p:childTnLst>
                              <p:par>
                                <p:cTn id="8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300"/>
                            </p:stCondLst>
                            <p:childTnLst>
                              <p:par>
                                <p:cTn id="19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1950"/>
                            </p:stCondLst>
                            <p:childTnLst>
                              <p:par>
                                <p:cTn id="30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2600"/>
                            </p:stCondLst>
                            <p:childTnLst>
                              <p:par>
                                <p:cTn id="41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3250"/>
                            </p:stCondLst>
                            <p:childTnLst>
                              <p:par>
                                <p:cTn id="52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9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0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3900"/>
                            </p:stCondLst>
                            <p:childTnLst>
                              <p:par>
                                <p:cTn id="6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9" grpId="0" animBg="1"/>
      <p:bldP spid="11" grpId="0" animBg="1"/>
      <p:bldP spid="13" grpId="0" animBg="1"/>
      <p:bldP spid="15" grpId="0" animBg="1"/>
      <p:bldP spid="16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7040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1F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Как проходит ход</a:t>
            </a:r>
            <a:endParaRPr lang="en-US" sz="2800" dirty="0"/>
          </a:p>
        </p:txBody>
      </p:sp>
      <p:sp>
        <p:nvSpPr>
          <p:cNvPr id="3" name="homeBtn"/>
          <p:cNvSpPr/>
          <p:nvPr/>
        </p:nvSpPr>
        <p:spPr>
          <a:xfrm>
            <a:off x="7635240" y="347472"/>
            <a:ext cx="1051560" cy="365760"/>
          </a:xfrm>
          <a:prstGeom prst="roundRect">
            <a:avLst>
              <a:gd name="adj" fmla="val 20000"/>
            </a:avLst>
          </a:prstGeom>
          <a:solidFill>
            <a:srgbClr val="F1F4F2"/>
          </a:solidFill>
          <a:ln w="9525">
            <a:solidFill>
              <a:srgbClr val="D5DCD8"/>
            </a:solidFill>
            <a:prstDash val="solid"/>
          </a:ln>
        </p:spPr>
      </p:sp>
      <p:sp>
        <p:nvSpPr>
          <p:cNvPr id="4" name="homeText"/>
          <p:cNvSpPr txBox="1"/>
          <p:nvPr/>
        </p:nvSpPr>
        <p:spPr>
          <a:xfrm>
            <a:off x="7635240" y="347472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u="sng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action="ppaction://hlinksldjump" tooltip="К содержанию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≡ Содержание</a:t>
            </a:r>
            <a:endParaRPr lang="en-US" sz="1100" dirty="0"/>
          </a:p>
        </p:txBody>
      </p:sp>
      <p:sp>
        <p:nvSpPr>
          <p:cNvPr id="5" name="f0"/>
          <p:cNvSpPr/>
          <p:nvPr/>
        </p:nvSpPr>
        <p:spPr>
          <a:xfrm>
            <a:off x="457200" y="1097280"/>
            <a:ext cx="3383280" cy="548640"/>
          </a:xfrm>
          <a:prstGeom prst="roundRect">
            <a:avLst>
              <a:gd name="adj" fmla="val 13333"/>
            </a:avLst>
          </a:prstGeom>
          <a:solidFill>
            <a:srgbClr val="F1F4F2"/>
          </a:solidFill>
          <a:ln w="9525">
            <a:solidFill>
              <a:srgbClr val="D5DCD8"/>
            </a:solidFill>
            <a:prstDash val="solid"/>
          </a:ln>
        </p:spPr>
      </p:sp>
      <p:sp>
        <p:nvSpPr>
          <p:cNvPr id="6" name="f0c"/>
          <p:cNvSpPr/>
          <p:nvPr/>
        </p:nvSpPr>
        <p:spPr>
          <a:xfrm>
            <a:off x="566928" y="1188720"/>
            <a:ext cx="365760" cy="365760"/>
          </a:xfrm>
          <a:prstGeom prst="ellipse">
            <a:avLst/>
          </a:prstGeom>
          <a:solidFill>
            <a:srgbClr val="3B6EA5"/>
          </a:solidFill>
          <a:ln w="12700">
            <a:solidFill>
              <a:srgbClr val="3B6EA5"/>
            </a:solidFill>
            <a:prstDash val="solid"/>
          </a:ln>
        </p:spPr>
      </p:sp>
      <p:sp>
        <p:nvSpPr>
          <p:cNvPr id="7" name="f0n"/>
          <p:cNvSpPr txBox="1"/>
          <p:nvPr/>
        </p:nvSpPr>
        <p:spPr>
          <a:xfrm>
            <a:off x="566928" y="11887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f0t"/>
          <p:cNvSpPr txBox="1"/>
          <p:nvPr/>
        </p:nvSpPr>
        <p:spPr>
          <a:xfrm>
            <a:off x="1051560" y="10972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Изучайте технологии</a:t>
            </a:r>
            <a:endParaRPr lang="en-US" sz="1500" dirty="0"/>
          </a:p>
        </p:txBody>
      </p:sp>
      <p:sp>
        <p:nvSpPr>
          <p:cNvPr id="9" name="f1"/>
          <p:cNvSpPr/>
          <p:nvPr/>
        </p:nvSpPr>
        <p:spPr>
          <a:xfrm>
            <a:off x="457200" y="1783080"/>
            <a:ext cx="3383280" cy="548640"/>
          </a:xfrm>
          <a:prstGeom prst="roundRect">
            <a:avLst>
              <a:gd name="adj" fmla="val 13333"/>
            </a:avLst>
          </a:prstGeom>
          <a:solidFill>
            <a:srgbClr val="F1F4F2"/>
          </a:solidFill>
          <a:ln w="9525">
            <a:solidFill>
              <a:srgbClr val="D5DCD8"/>
            </a:solidFill>
            <a:prstDash val="solid"/>
          </a:ln>
        </p:spPr>
      </p:sp>
      <p:sp>
        <p:nvSpPr>
          <p:cNvPr id="10" name="f1c"/>
          <p:cNvSpPr/>
          <p:nvPr/>
        </p:nvSpPr>
        <p:spPr>
          <a:xfrm>
            <a:off x="566928" y="1874520"/>
            <a:ext cx="365760" cy="365760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11" name="f1n"/>
          <p:cNvSpPr txBox="1"/>
          <p:nvPr/>
        </p:nvSpPr>
        <p:spPr>
          <a:xfrm>
            <a:off x="566928" y="18745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f1t"/>
          <p:cNvSpPr txBox="1"/>
          <p:nvPr/>
        </p:nvSpPr>
        <p:spPr>
          <a:xfrm>
            <a:off x="1051560" y="17830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Стройте</a:t>
            </a:r>
            <a:endParaRPr lang="en-US" sz="1500" dirty="0"/>
          </a:p>
        </p:txBody>
      </p:sp>
      <p:sp>
        <p:nvSpPr>
          <p:cNvPr id="13" name="f2"/>
          <p:cNvSpPr/>
          <p:nvPr/>
        </p:nvSpPr>
        <p:spPr>
          <a:xfrm>
            <a:off x="457200" y="2468880"/>
            <a:ext cx="3383280" cy="548640"/>
          </a:xfrm>
          <a:prstGeom prst="roundRect">
            <a:avLst>
              <a:gd name="adj" fmla="val 13333"/>
            </a:avLst>
          </a:prstGeom>
          <a:solidFill>
            <a:srgbClr val="F1F4F2"/>
          </a:solidFill>
          <a:ln w="9525">
            <a:solidFill>
              <a:srgbClr val="D5DCD8"/>
            </a:solidFill>
            <a:prstDash val="solid"/>
          </a:ln>
        </p:spPr>
      </p:sp>
      <p:sp>
        <p:nvSpPr>
          <p:cNvPr id="14" name="f2c"/>
          <p:cNvSpPr/>
          <p:nvPr/>
        </p:nvSpPr>
        <p:spPr>
          <a:xfrm>
            <a:off x="566928" y="2560320"/>
            <a:ext cx="365760" cy="365760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5" name="f2n"/>
          <p:cNvSpPr txBox="1"/>
          <p:nvPr/>
        </p:nvSpPr>
        <p:spPr>
          <a:xfrm>
            <a:off x="566928" y="25603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f2t"/>
          <p:cNvSpPr txBox="1"/>
          <p:nvPr/>
        </p:nvSpPr>
        <p:spPr>
          <a:xfrm>
            <a:off x="1051560" y="24688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Приглашайте деятелей</a:t>
            </a:r>
            <a:endParaRPr lang="en-US" sz="1500" dirty="0"/>
          </a:p>
        </p:txBody>
      </p:sp>
      <p:sp>
        <p:nvSpPr>
          <p:cNvPr id="17" name="f3"/>
          <p:cNvSpPr/>
          <p:nvPr/>
        </p:nvSpPr>
        <p:spPr>
          <a:xfrm>
            <a:off x="457200" y="3154680"/>
            <a:ext cx="3383280" cy="548640"/>
          </a:xfrm>
          <a:prstGeom prst="roundRect">
            <a:avLst>
              <a:gd name="adj" fmla="val 13333"/>
            </a:avLst>
          </a:prstGeom>
          <a:solidFill>
            <a:srgbClr val="F1F4F2"/>
          </a:solidFill>
          <a:ln w="9525">
            <a:solidFill>
              <a:srgbClr val="D5DCD8"/>
            </a:solidFill>
            <a:prstDash val="solid"/>
          </a:ln>
        </p:spPr>
      </p:sp>
      <p:sp>
        <p:nvSpPr>
          <p:cNvPr id="18" name="f3c"/>
          <p:cNvSpPr/>
          <p:nvPr/>
        </p:nvSpPr>
        <p:spPr>
          <a:xfrm>
            <a:off x="566928" y="3246120"/>
            <a:ext cx="365760" cy="365760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9" name="f3n"/>
          <p:cNvSpPr txBox="1"/>
          <p:nvPr/>
        </p:nvSpPr>
        <p:spPr>
          <a:xfrm>
            <a:off x="566928" y="3246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0" name="f3t"/>
          <p:cNvSpPr txBox="1"/>
          <p:nvPr/>
        </p:nvSpPr>
        <p:spPr>
          <a:xfrm>
            <a:off x="1051560" y="31546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Решайте события</a:t>
            </a:r>
            <a:endParaRPr lang="en-US" sz="1500" dirty="0"/>
          </a:p>
        </p:txBody>
      </p:sp>
      <p:sp>
        <p:nvSpPr>
          <p:cNvPr id="21" name="f4"/>
          <p:cNvSpPr/>
          <p:nvPr/>
        </p:nvSpPr>
        <p:spPr>
          <a:xfrm>
            <a:off x="457200" y="3840480"/>
            <a:ext cx="3383280" cy="548640"/>
          </a:xfrm>
          <a:prstGeom prst="roundRect">
            <a:avLst>
              <a:gd name="adj" fmla="val 13333"/>
            </a:avLst>
          </a:prstGeom>
          <a:solidFill>
            <a:srgbClr val="C8102E"/>
          </a:solidFill>
          <a:ln w="9525">
            <a:solidFill>
              <a:srgbClr val="C8102E"/>
            </a:solidFill>
            <a:prstDash val="solid"/>
          </a:ln>
        </p:spPr>
      </p:sp>
      <p:sp>
        <p:nvSpPr>
          <p:cNvPr id="22" name="f4c"/>
          <p:cNvSpPr/>
          <p:nvPr/>
        </p:nvSpPr>
        <p:spPr>
          <a:xfrm>
            <a:off x="566928" y="393192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f4n"/>
          <p:cNvSpPr txBox="1"/>
          <p:nvPr/>
        </p:nvSpPr>
        <p:spPr>
          <a:xfrm>
            <a:off x="566928" y="3931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4" name="f4t"/>
          <p:cNvSpPr txBox="1"/>
          <p:nvPr/>
        </p:nvSpPr>
        <p:spPr>
          <a:xfrm>
            <a:off x="1051560" y="38404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Завершить ход</a:t>
            </a:r>
            <a:endParaRPr lang="en-US" sz="1500" dirty="0"/>
          </a:p>
        </p:txBody>
      </p:sp>
      <p:pic>
        <p:nvPicPr>
          <p:cNvPr id="25" name="shot" descr="/tmp/claude-0/-home-user-xy-/a67a51dc-14ac-57ee-b735-98b960f6acb5/scratchpad/pres/img/event_crop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0520" y="1097280"/>
            <a:ext cx="4526280" cy="2970371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pic>
      <p:sp>
        <p:nvSpPr>
          <p:cNvPr id="26" name="caption"/>
          <p:cNvSpPr txBox="1"/>
          <p:nvPr/>
        </p:nvSpPr>
        <p:spPr>
          <a:xfrm>
            <a:off x="4160520" y="4113371"/>
            <a:ext cx="4526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E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Событие 1943 года: операция «Возмездие» — игрок выбирает решение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9744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E6A6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65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13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95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600"/>
                            </p:stCondLst>
                            <p:childTnLst>
                              <p:par>
                                <p:cTn id="5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3250"/>
                            </p:stCondLst>
                            <p:childTnLst>
                              <p:par>
                                <p:cTn id="69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1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2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11" grpId="0" animBg="1"/>
      <p:bldP spid="12" grpId="0" animBg="1"/>
      <p:bldP spid="15" grpId="0" animBg="1"/>
      <p:bldP spid="16" grpId="0" animBg="1"/>
      <p:bldP spid="19" grpId="0" animBg="1"/>
      <p:bldP spid="20" grpId="0" animBg="1"/>
      <p:bldP spid="23" grpId="0" animBg="1"/>
      <p:bldP spid="24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7040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1F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Армии на карте — как в HOI</a:t>
            </a:r>
            <a:endParaRPr lang="en-US" sz="2800" dirty="0"/>
          </a:p>
        </p:txBody>
      </p:sp>
      <p:sp>
        <p:nvSpPr>
          <p:cNvPr id="3" name="homeBtn"/>
          <p:cNvSpPr/>
          <p:nvPr/>
        </p:nvSpPr>
        <p:spPr>
          <a:xfrm>
            <a:off x="7635240" y="347472"/>
            <a:ext cx="1051560" cy="365760"/>
          </a:xfrm>
          <a:prstGeom prst="roundRect">
            <a:avLst>
              <a:gd name="adj" fmla="val 20000"/>
            </a:avLst>
          </a:prstGeom>
          <a:solidFill>
            <a:srgbClr val="F1F4F2"/>
          </a:solidFill>
          <a:ln w="9525">
            <a:solidFill>
              <a:srgbClr val="D5DCD8"/>
            </a:solidFill>
            <a:prstDash val="solid"/>
          </a:ln>
        </p:spPr>
      </p:sp>
      <p:sp>
        <p:nvSpPr>
          <p:cNvPr id="4" name="homeText"/>
          <p:cNvSpPr txBox="1"/>
          <p:nvPr/>
        </p:nvSpPr>
        <p:spPr>
          <a:xfrm>
            <a:off x="7635240" y="347472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u="sng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action="ppaction://hlinksldjump" tooltip="К содержанию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≡ Содержание</a:t>
            </a:r>
            <a:endParaRPr lang="en-US" sz="1100" dirty="0"/>
          </a:p>
        </p:txBody>
      </p:sp>
      <p:pic>
        <p:nvPicPr>
          <p:cNvPr id="5" name="shot" descr="/tmp/claude-0/-home-user-xy-/a67a51dc-14ac-57ee-b735-98b960f6acb5/scratchpad/pres/img/s43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5120640" cy="3112113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pic>
      <p:sp>
        <p:nvSpPr>
          <p:cNvPr id="6" name="caption"/>
          <p:cNvSpPr txBox="1"/>
          <p:nvPr/>
        </p:nvSpPr>
        <p:spPr>
          <a:xfrm>
            <a:off x="457200" y="4209393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E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1943 год: армии идут освобождать Могилёв и Витебск</a:t>
            </a:r>
            <a:endParaRPr lang="en-US" sz="1000" dirty="0"/>
          </a:p>
        </p:txBody>
      </p:sp>
      <p:sp>
        <p:nvSpPr>
          <p:cNvPr id="7" name="steps"/>
          <p:cNvSpPr txBox="1"/>
          <p:nvPr/>
        </p:nvSpPr>
        <p:spPr>
          <a:xfrm>
            <a:off x="5806440" y="105156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Нажмите на фигурку армии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Щёлкните город или землю — армия пойдёт туда (или правой кнопкой мыши)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Бой начинается, когда армия дошла до цели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Армии можно делить и объединять</a:t>
            </a:r>
            <a:endParaRPr lang="en-US" sz="1300" dirty="0"/>
          </a:p>
        </p:txBody>
      </p:sp>
      <p:pic>
        <p:nvPicPr>
          <p:cNvPr id="8" name="gifBattle" descr="/tmp/claude-0/-home-user-xy-/a67a51dc-14ac-57ee-b735-98b960f6acb5/scratchpad/pres/gif/battle.gif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834640"/>
            <a:ext cx="2697480" cy="1695559"/>
          </a:xfrm>
          <a:prstGeom prst="rect">
            <a:avLst/>
          </a:prstGeom>
        </p:spPr>
      </p:pic>
      <p:sp>
        <p:nvSpPr>
          <p:cNvPr id="9" name="caption"/>
          <p:cNvSpPr txBox="1"/>
          <p:nvPr/>
        </p:nvSpPr>
        <p:spPr>
          <a:xfrm>
            <a:off x="5806440" y="4575919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E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Анимация: пушки стреляют у Могилёва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9744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E6A6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  <p:transition spd="med">
    <p:wipe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7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650"/>
                            </p:stCondLst>
                            <p:childTnLst>
                              <p:par>
                                <p:cTn id="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1300"/>
                            </p:stCondLst>
                            <p:childTnLst>
                              <p:par>
                                <p:cTn id="12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7040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1F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Снабжение и железные дороги</a:t>
            </a:r>
            <a:endParaRPr lang="en-US" sz="2800" dirty="0"/>
          </a:p>
        </p:txBody>
      </p:sp>
      <p:sp>
        <p:nvSpPr>
          <p:cNvPr id="3" name="homeBtn"/>
          <p:cNvSpPr/>
          <p:nvPr/>
        </p:nvSpPr>
        <p:spPr>
          <a:xfrm>
            <a:off x="7635240" y="347472"/>
            <a:ext cx="1051560" cy="365760"/>
          </a:xfrm>
          <a:prstGeom prst="roundRect">
            <a:avLst>
              <a:gd name="adj" fmla="val 20000"/>
            </a:avLst>
          </a:prstGeom>
          <a:solidFill>
            <a:srgbClr val="F1F4F2"/>
          </a:solidFill>
          <a:ln w="9525">
            <a:solidFill>
              <a:srgbClr val="D5DCD8"/>
            </a:solidFill>
            <a:prstDash val="solid"/>
          </a:ln>
        </p:spPr>
      </p:sp>
      <p:sp>
        <p:nvSpPr>
          <p:cNvPr id="4" name="homeText"/>
          <p:cNvSpPr txBox="1"/>
          <p:nvPr/>
        </p:nvSpPr>
        <p:spPr>
          <a:xfrm>
            <a:off x="7635240" y="347472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u="sng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action="ppaction://hlinksldjump" tooltip="К содержанию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≡ Содержание</a:t>
            </a:r>
            <a:endParaRPr lang="en-US" sz="1100" dirty="0"/>
          </a:p>
        </p:txBody>
      </p:sp>
      <p:sp>
        <p:nvSpPr>
          <p:cNvPr id="5" name="sr0Circle"/>
          <p:cNvSpPr/>
          <p:nvPr/>
        </p:nvSpPr>
        <p:spPr>
          <a:xfrm>
            <a:off x="457200" y="1097280"/>
            <a:ext cx="502920" cy="502920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pic>
        <p:nvPicPr>
          <p:cNvPr id="6" name="sr0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7901" y="1217981"/>
            <a:ext cx="261518" cy="261518"/>
          </a:xfrm>
          <a:prstGeom prst="rect">
            <a:avLst/>
          </a:prstGeom>
        </p:spPr>
      </p:pic>
      <p:sp>
        <p:nvSpPr>
          <p:cNvPr id="7" name="sr0t"/>
          <p:cNvSpPr txBox="1"/>
          <p:nvPr/>
        </p:nvSpPr>
        <p:spPr>
          <a:xfrm>
            <a:off x="1097280" y="105156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Снабжение идёт от столицы — не дальше двух дорог или по железной дороге</a:t>
            </a:r>
            <a:endParaRPr lang="en-US" sz="1300" dirty="0"/>
          </a:p>
        </p:txBody>
      </p:sp>
      <p:sp>
        <p:nvSpPr>
          <p:cNvPr id="8" name="sr1Circle"/>
          <p:cNvSpPr/>
          <p:nvPr/>
        </p:nvSpPr>
        <p:spPr>
          <a:xfrm>
            <a:off x="457200" y="1965960"/>
            <a:ext cx="502920" cy="502920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pic>
        <p:nvPicPr>
          <p:cNvPr id="9" name="sr1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901" y="2086661"/>
            <a:ext cx="261518" cy="261518"/>
          </a:xfrm>
          <a:prstGeom prst="rect">
            <a:avLst/>
          </a:prstGeom>
        </p:spPr>
      </p:pic>
      <p:sp>
        <p:nvSpPr>
          <p:cNvPr id="10" name="sr1t"/>
          <p:cNvSpPr txBox="1"/>
          <p:nvPr/>
        </p:nvSpPr>
        <p:spPr>
          <a:xfrm>
            <a:off x="1097280" y="192024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Без снабжения сила армии падает (×0,6), могут теряться войска</a:t>
            </a:r>
            <a:endParaRPr lang="en-US" sz="1300" dirty="0"/>
          </a:p>
        </p:txBody>
      </p:sp>
      <p:sp>
        <p:nvSpPr>
          <p:cNvPr id="11" name="sr2Circle"/>
          <p:cNvSpPr/>
          <p:nvPr/>
        </p:nvSpPr>
        <p:spPr>
          <a:xfrm>
            <a:off x="457200" y="2834640"/>
            <a:ext cx="502920" cy="502920"/>
          </a:xfrm>
          <a:prstGeom prst="ellipse">
            <a:avLst/>
          </a:prstGeom>
          <a:solidFill>
            <a:srgbClr val="3B6EA5"/>
          </a:solidFill>
          <a:ln w="12700">
            <a:solidFill>
              <a:srgbClr val="3B6EA5"/>
            </a:solidFill>
            <a:prstDash val="solid"/>
          </a:ln>
        </p:spPr>
      </p:sp>
      <p:pic>
        <p:nvPicPr>
          <p:cNvPr id="12" name="sr2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7901" y="2955341"/>
            <a:ext cx="261518" cy="261518"/>
          </a:xfrm>
          <a:prstGeom prst="rect">
            <a:avLst/>
          </a:prstGeom>
        </p:spPr>
      </p:pic>
      <p:sp>
        <p:nvSpPr>
          <p:cNvPr id="13" name="sr2t"/>
          <p:cNvSpPr txBox="1"/>
          <p:nvPr/>
        </p:nvSpPr>
        <p:spPr>
          <a:xfrm>
            <a:off x="1097280" y="278892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 1871 года стройте железные дороги: по ним ходят поезда, армии идут быстрее</a:t>
            </a:r>
            <a:endParaRPr lang="en-US" sz="1300" dirty="0"/>
          </a:p>
        </p:txBody>
      </p:sp>
      <p:sp>
        <p:nvSpPr>
          <p:cNvPr id="14" name="sr3Circle"/>
          <p:cNvSpPr/>
          <p:nvPr/>
        </p:nvSpPr>
        <p:spPr>
          <a:xfrm>
            <a:off x="457200" y="3703320"/>
            <a:ext cx="502920" cy="502920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pic>
        <p:nvPicPr>
          <p:cNvPr id="15" name="sr3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7901" y="3824021"/>
            <a:ext cx="261518" cy="261518"/>
          </a:xfrm>
          <a:prstGeom prst="rect">
            <a:avLst/>
          </a:prstGeom>
        </p:spPr>
      </p:pic>
      <p:sp>
        <p:nvSpPr>
          <p:cNvPr id="16" name="sr3t"/>
          <p:cNvSpPr txBox="1"/>
          <p:nvPr/>
        </p:nvSpPr>
        <p:spPr>
          <a:xfrm>
            <a:off x="1097280" y="365760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1941–1944 годах снабжение идёт с Большой земли и от партизан</a:t>
            </a:r>
            <a:endParaRPr lang="en-US" sz="1300" dirty="0"/>
          </a:p>
        </p:txBody>
      </p:sp>
      <p:pic>
        <p:nvPicPr>
          <p:cNvPr id="17" name="shot" descr="/tmp/claude-0/-home-user-xy-/a67a51dc-14ac-57ee-b735-98b960f6acb5/scratchpad/pres/img/s47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43400" y="1097280"/>
            <a:ext cx="4343400" cy="2639739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pic>
      <p:sp>
        <p:nvSpPr>
          <p:cNvPr id="18" name="caption"/>
          <p:cNvSpPr txBox="1"/>
          <p:nvPr/>
        </p:nvSpPr>
        <p:spPr>
          <a:xfrm>
            <a:off x="4343400" y="3782739"/>
            <a:ext cx="4343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E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1942 год: армия в Минске без снабжения — в тылу врага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9744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E6A6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1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650"/>
                            </p:stCondLst>
                            <p:childTnLst>
                              <p:par>
                                <p:cTn id="17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1300"/>
                            </p:stCondLst>
                            <p:childTnLst>
                              <p:par>
                                <p:cTn id="30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950"/>
                            </p:stCondLst>
                            <p:childTnLst>
                              <p:par>
                                <p:cTn id="43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3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600"/>
                            </p:stCondLst>
                            <p:childTnLst>
                              <p:par>
                                <p:cTn id="56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8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9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10" grpId="0" animBg="1"/>
      <p:bldP spid="13" grpId="0" animBg="1"/>
      <p:bldP spid="16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7040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1F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3D-карта Беларуси</a:t>
            </a:r>
            <a:endParaRPr lang="en-US" sz="2800" dirty="0"/>
          </a:p>
        </p:txBody>
      </p:sp>
      <p:sp>
        <p:nvSpPr>
          <p:cNvPr id="3" name="homeBtn"/>
          <p:cNvSpPr/>
          <p:nvPr/>
        </p:nvSpPr>
        <p:spPr>
          <a:xfrm>
            <a:off x="7635240" y="347472"/>
            <a:ext cx="1051560" cy="365760"/>
          </a:xfrm>
          <a:prstGeom prst="roundRect">
            <a:avLst>
              <a:gd name="adj" fmla="val 20000"/>
            </a:avLst>
          </a:prstGeom>
          <a:solidFill>
            <a:srgbClr val="F1F4F2"/>
          </a:solidFill>
          <a:ln w="9525">
            <a:solidFill>
              <a:srgbClr val="D5DCD8"/>
            </a:solidFill>
            <a:prstDash val="solid"/>
          </a:ln>
        </p:spPr>
      </p:sp>
      <p:sp>
        <p:nvSpPr>
          <p:cNvPr id="4" name="homeText"/>
          <p:cNvSpPr txBox="1"/>
          <p:nvPr/>
        </p:nvSpPr>
        <p:spPr>
          <a:xfrm>
            <a:off x="7635240" y="347472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u="sng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action="ppaction://hlinksldjump" tooltip="К содержанию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≡ Содержание</a:t>
            </a:r>
            <a:endParaRPr lang="en-US" sz="1100" dirty="0"/>
          </a:p>
        </p:txBody>
      </p:sp>
      <p:pic>
        <p:nvPicPr>
          <p:cNvPr id="5" name="gifMap" descr="/tmp/claude-0/-home-user-xy-/a67a51dc-14ac-57ee-b735-98b960f6acb5/scratchpad/pres/gif/rotate.gif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5486400" cy="3335154"/>
          </a:xfrm>
          <a:prstGeom prst="rect">
            <a:avLst/>
          </a:prstGeom>
        </p:spPr>
      </p:pic>
      <p:sp>
        <p:nvSpPr>
          <p:cNvPr id="6" name="caption"/>
          <p:cNvSpPr txBox="1"/>
          <p:nvPr/>
        </p:nvSpPr>
        <p:spPr>
          <a:xfrm>
            <a:off x="457200" y="443243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E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Анимация: карта 1942 года поворачивается мышью</a:t>
            </a:r>
            <a:endParaRPr lang="en-US" sz="1000" dirty="0"/>
          </a:p>
        </p:txBody>
      </p:sp>
      <p:sp>
        <p:nvSpPr>
          <p:cNvPr id="7" name="ctrl"/>
          <p:cNvSpPr txBox="1"/>
          <p:nvPr/>
        </p:nvSpPr>
        <p:spPr>
          <a:xfrm>
            <a:off x="6263640" y="1051560"/>
            <a:ext cx="24231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Колесо мыши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ближе / дальше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Левая кнопка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повернуть и наклонить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Правая кнопка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сдвинуть карту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карта во весь экран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завершить ход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9744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E6A6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  <p:transition spd="med">
    <p:zoom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650"/>
                            </p:stCondLst>
                            <p:childTnLst>
                              <p:par>
                                <p:cTn id="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7040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1F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Задания, летописец и итоги</a:t>
            </a:r>
            <a:endParaRPr lang="en-US" sz="2800" dirty="0"/>
          </a:p>
        </p:txBody>
      </p:sp>
      <p:sp>
        <p:nvSpPr>
          <p:cNvPr id="3" name="homeBtn"/>
          <p:cNvSpPr/>
          <p:nvPr/>
        </p:nvSpPr>
        <p:spPr>
          <a:xfrm>
            <a:off x="7635240" y="347472"/>
            <a:ext cx="1051560" cy="365760"/>
          </a:xfrm>
          <a:prstGeom prst="roundRect">
            <a:avLst>
              <a:gd name="adj" fmla="val 20000"/>
            </a:avLst>
          </a:prstGeom>
          <a:solidFill>
            <a:srgbClr val="F1F4F2"/>
          </a:solidFill>
          <a:ln w="9525">
            <a:solidFill>
              <a:srgbClr val="D5DCD8"/>
            </a:solidFill>
            <a:prstDash val="solid"/>
          </a:ln>
        </p:spPr>
      </p:sp>
      <p:sp>
        <p:nvSpPr>
          <p:cNvPr id="4" name="homeText"/>
          <p:cNvSpPr txBox="1"/>
          <p:nvPr/>
        </p:nvSpPr>
        <p:spPr>
          <a:xfrm>
            <a:off x="7635240" y="347472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u="sng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action="ppaction://hlinksldjump" tooltip="К содержанию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≡ Содержание</a:t>
            </a:r>
            <a:endParaRPr lang="en-US" sz="1100" dirty="0"/>
          </a:p>
        </p:txBody>
      </p:sp>
      <p:pic>
        <p:nvPicPr>
          <p:cNvPr id="5" name="shotA" descr="/tmp/claude-0/-home-user-xy-/a67a51dc-14ac-57ee-b735-98b960f6acb5/scratchpad/pres/img/quests_panel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3017520" cy="2606758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pic>
      <p:sp>
        <p:nvSpPr>
          <p:cNvPr id="6" name="caption"/>
          <p:cNvSpPr txBox="1"/>
          <p:nvPr/>
        </p:nvSpPr>
        <p:spPr>
          <a:xfrm>
            <a:off x="457200" y="370403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E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Задания 1943 года</a:t>
            </a:r>
            <a:endParaRPr lang="en-US" sz="1000" dirty="0"/>
          </a:p>
        </p:txBody>
      </p:sp>
      <p:pic>
        <p:nvPicPr>
          <p:cNvPr id="7" name="shotB" descr="/tmp/claude-0/-home-user-xy-/a67a51dc-14ac-57ee-b735-98b960f6acb5/scratchpad/pres/img/results_panel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0" y="1051560"/>
            <a:ext cx="3017520" cy="2606758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pic>
      <p:sp>
        <p:nvSpPr>
          <p:cNvPr id="8" name="caption"/>
          <p:cNvSpPr txBox="1"/>
          <p:nvPr/>
        </p:nvSpPr>
        <p:spPr>
          <a:xfrm>
            <a:off x="3657600" y="370403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E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Итоги 1945 года: графики населения</a:t>
            </a:r>
            <a:endParaRPr lang="en-US" sz="1000" dirty="0"/>
          </a:p>
        </p:txBody>
      </p:sp>
      <p:sp>
        <p:nvSpPr>
          <p:cNvPr id="9" name="txt"/>
          <p:cNvSpPr txBox="1"/>
          <p:nvPr/>
        </p:nvSpPr>
        <p:spPr>
          <a:xfrm>
            <a:off x="6858000" y="1051560"/>
            <a:ext cx="18288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Задания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 исторических заданий с наградами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Летописец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107 вопросов по истории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3B6E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Итоги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графики и счёт в конце игры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9744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E6A6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650"/>
                            </p:stCondLst>
                            <p:childTnLst>
                              <p:par>
                                <p:cTn id="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130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7040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Беларусь в годы войны</a:t>
            </a:r>
            <a:endParaRPr lang="en-US" sz="2800" dirty="0"/>
          </a:p>
        </p:txBody>
      </p:sp>
      <p:sp>
        <p:nvSpPr>
          <p:cNvPr id="3" name="homeBtn"/>
          <p:cNvSpPr/>
          <p:nvPr/>
        </p:nvSpPr>
        <p:spPr>
          <a:xfrm>
            <a:off x="7635240" y="347472"/>
            <a:ext cx="1051560" cy="365760"/>
          </a:xfrm>
          <a:prstGeom prst="roundRect">
            <a:avLst>
              <a:gd name="adj" fmla="val 20000"/>
            </a:avLst>
          </a:prstGeom>
          <a:solidFill>
            <a:srgbClr val="1F2723"/>
          </a:solidFill>
          <a:ln w="9525">
            <a:solidFill>
              <a:srgbClr val="3A4540"/>
            </a:solidFill>
            <a:prstDash val="solid"/>
          </a:ln>
        </p:spPr>
      </p:sp>
      <p:sp>
        <p:nvSpPr>
          <p:cNvPr id="4" name="homeText"/>
          <p:cNvSpPr txBox="1"/>
          <p:nvPr/>
        </p:nvSpPr>
        <p:spPr>
          <a:xfrm>
            <a:off x="7635240" y="347472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u="sng" dirty="0">
                <a:solidFill>
                  <a:srgbClr val="E8ECEA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action="ppaction://hlinksldjump" tooltip="К содержанию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≡ Содержание</a:t>
            </a:r>
            <a:endParaRPr lang="en-US" sz="1100" dirty="0"/>
          </a:p>
        </p:txBody>
      </p:sp>
      <p:pic>
        <p:nvPicPr>
          <p:cNvPr id="5" name="shot" descr="/tmp/claude-0/-home-user-xy-/a67a51dc-14ac-57ee-b735-98b960f6acb5/scratchpad/pres/img/s26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846320" cy="2945393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50000"/>
              </a:srgbClr>
            </a:outerShdw>
          </a:effectLst>
        </p:spPr>
      </p:pic>
      <p:sp>
        <p:nvSpPr>
          <p:cNvPr id="6" name="caption"/>
          <p:cNvSpPr txBox="1"/>
          <p:nvPr/>
        </p:nvSpPr>
        <p:spPr>
          <a:xfrm>
            <a:off x="457200" y="4042673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A9B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1942 год в игре: оккупированные области, армии и партизанский край</a:t>
            </a:r>
            <a:endParaRPr lang="en-US" sz="1000" dirty="0"/>
          </a:p>
        </p:txBody>
      </p:sp>
      <p:sp>
        <p:nvSpPr>
          <p:cNvPr id="7" name="w0"/>
          <p:cNvSpPr/>
          <p:nvPr/>
        </p:nvSpPr>
        <p:spPr>
          <a:xfrm>
            <a:off x="5577840" y="1051560"/>
            <a:ext cx="3108960" cy="1051560"/>
          </a:xfrm>
          <a:prstGeom prst="roundRect">
            <a:avLst>
              <a:gd name="adj" fmla="val 6957"/>
            </a:avLst>
          </a:prstGeom>
          <a:solidFill>
            <a:srgbClr val="1F2723"/>
          </a:solidFill>
          <a:ln w="9525">
            <a:solidFill>
              <a:srgbClr val="33403A"/>
            </a:solidFill>
            <a:prstDash val="solid"/>
          </a:ln>
        </p:spPr>
      </p:sp>
      <p:sp>
        <p:nvSpPr>
          <p:cNvPr id="8" name="w0t"/>
          <p:cNvSpPr txBox="1"/>
          <p:nvPr/>
        </p:nvSpPr>
        <p:spPr>
          <a:xfrm>
            <a:off x="5715000" y="1124712"/>
            <a:ext cx="2880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81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каждый третий</a:t>
            </a:r>
            <a:endParaRPr lang="en-US" sz="2400" dirty="0"/>
          </a:p>
          <a:p>
            <a:pPr indent="0" marL="0">
              <a:buNone/>
            </a:pPr>
            <a:r>
              <a:rPr lang="en-US" sz="1200" dirty="0">
                <a:solidFill>
                  <a:srgbClr val="E8EC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житель Беларуси погиб в войне</a:t>
            </a:r>
            <a:endParaRPr lang="en-US" sz="2400" dirty="0"/>
          </a:p>
        </p:txBody>
      </p:sp>
      <p:sp>
        <p:nvSpPr>
          <p:cNvPr id="9" name="w1"/>
          <p:cNvSpPr/>
          <p:nvPr/>
        </p:nvSpPr>
        <p:spPr>
          <a:xfrm>
            <a:off x="5577840" y="2240280"/>
            <a:ext cx="3108960" cy="1051560"/>
          </a:xfrm>
          <a:prstGeom prst="roundRect">
            <a:avLst>
              <a:gd name="adj" fmla="val 6957"/>
            </a:avLst>
          </a:prstGeom>
          <a:solidFill>
            <a:srgbClr val="1F2723"/>
          </a:solidFill>
          <a:ln w="9525">
            <a:solidFill>
              <a:srgbClr val="33403A"/>
            </a:solidFill>
            <a:prstDash val="solid"/>
          </a:ln>
        </p:spPr>
      </p:sp>
      <p:sp>
        <p:nvSpPr>
          <p:cNvPr id="10" name="w1t"/>
          <p:cNvSpPr txBox="1"/>
          <p:nvPr/>
        </p:nvSpPr>
        <p:spPr>
          <a:xfrm>
            <a:off x="5715000" y="2313432"/>
            <a:ext cx="2880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≈45 000</a:t>
            </a:r>
            <a:endParaRPr lang="en-US" sz="2800" dirty="0"/>
          </a:p>
          <a:p>
            <a:pPr indent="0" marL="0">
              <a:buNone/>
            </a:pPr>
            <a:r>
              <a:rPr lang="en-US" sz="1200" dirty="0">
                <a:solidFill>
                  <a:srgbClr val="E8EC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женщин сражались в партизанских отрядах</a:t>
            </a:r>
            <a:endParaRPr lang="en-US" sz="2800" dirty="0"/>
          </a:p>
        </p:txBody>
      </p:sp>
      <p:sp>
        <p:nvSpPr>
          <p:cNvPr id="11" name="w2"/>
          <p:cNvSpPr/>
          <p:nvPr/>
        </p:nvSpPr>
        <p:spPr>
          <a:xfrm>
            <a:off x="5577840" y="3429000"/>
            <a:ext cx="3108960" cy="1051560"/>
          </a:xfrm>
          <a:prstGeom prst="roundRect">
            <a:avLst>
              <a:gd name="adj" fmla="val 6957"/>
            </a:avLst>
          </a:prstGeom>
          <a:solidFill>
            <a:srgbClr val="1F2723"/>
          </a:solidFill>
          <a:ln w="9525">
            <a:solidFill>
              <a:srgbClr val="33403A"/>
            </a:solidFill>
            <a:prstDash val="solid"/>
          </a:ln>
        </p:spPr>
      </p:sp>
      <p:sp>
        <p:nvSpPr>
          <p:cNvPr id="12" name="w2t"/>
          <p:cNvSpPr txBox="1"/>
          <p:nvPr/>
        </p:nvSpPr>
        <p:spPr>
          <a:xfrm>
            <a:off x="5715000" y="3502152"/>
            <a:ext cx="2880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7D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≈25 000</a:t>
            </a:r>
            <a:endParaRPr lang="en-US" sz="2800" dirty="0"/>
          </a:p>
          <a:p>
            <a:pPr indent="0" marL="0">
              <a:buNone/>
            </a:pPr>
            <a:r>
              <a:rPr lang="en-US" sz="1200" dirty="0">
                <a:solidFill>
                  <a:srgbClr val="E8EC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женщин участвовали в подполье</a:t>
            </a: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9744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A9B4A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650"/>
                            </p:stCondLst>
                            <p:childTnLst>
                              <p:par>
                                <p:cTn id="8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300"/>
                            </p:stCondLst>
                            <p:childTnLst>
                              <p:par>
                                <p:cTn id="17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950"/>
                            </p:stCondLst>
                            <p:childTnLst>
                              <p:par>
                                <p:cTn id="26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0" grpId="0" animBg="1"/>
      <p:bldP spid="12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7040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1F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Операция «Возмездие», 1943</a:t>
            </a:r>
            <a:endParaRPr lang="en-US" sz="2800" dirty="0"/>
          </a:p>
        </p:txBody>
      </p:sp>
      <p:sp>
        <p:nvSpPr>
          <p:cNvPr id="3" name="homeBtn"/>
          <p:cNvSpPr/>
          <p:nvPr/>
        </p:nvSpPr>
        <p:spPr>
          <a:xfrm>
            <a:off x="7635240" y="347472"/>
            <a:ext cx="1051560" cy="365760"/>
          </a:xfrm>
          <a:prstGeom prst="roundRect">
            <a:avLst>
              <a:gd name="adj" fmla="val 20000"/>
            </a:avLst>
          </a:prstGeom>
          <a:solidFill>
            <a:srgbClr val="F1F4F2"/>
          </a:solidFill>
          <a:ln w="9525">
            <a:solidFill>
              <a:srgbClr val="D5DCD8"/>
            </a:solidFill>
            <a:prstDash val="solid"/>
          </a:ln>
        </p:spPr>
      </p:sp>
      <p:sp>
        <p:nvSpPr>
          <p:cNvPr id="4" name="homeText"/>
          <p:cNvSpPr txBox="1"/>
          <p:nvPr/>
        </p:nvSpPr>
        <p:spPr>
          <a:xfrm>
            <a:off x="7635240" y="347472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u="sng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action="ppaction://hlinksldjump" tooltip="К содержанию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≡ Содержание</a:t>
            </a:r>
            <a:endParaRPr lang="en-US" sz="1100" dirty="0"/>
          </a:p>
        </p:txBody>
      </p:sp>
      <p:sp>
        <p:nvSpPr>
          <p:cNvPr id="5" name="txt"/>
          <p:cNvSpPr txBox="1"/>
          <p:nvPr/>
        </p:nvSpPr>
        <p:spPr>
          <a:xfrm>
            <a:off x="457200" y="1051560"/>
            <a:ext cx="32918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сентября 1943 года минские подпольщицы уничтожили гауляйтера Вильгельма Кубе.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Героини Советского Союза (29 октября 1943 года):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b="1" u="sng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Статья о Елене Мазаник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Елена Мазаник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b="1" u="sng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Статья о Марии Осиповой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Мария Осипова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b="1" u="sng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Статья о Надежде Троян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Надежда Троян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5E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игре это событие с выбором, а героинь можно пригласить в команду.</a:t>
            </a:r>
            <a:endParaRPr lang="en-US" sz="1400" dirty="0"/>
          </a:p>
        </p:txBody>
      </p:sp>
      <p:pic>
        <p:nvPicPr>
          <p:cNvPr id="6" name="shotA" descr="/tmp/claude-0/-home-user-xy-/a67a51dc-14ac-57ee-b735-98b960f6acb5/scratchpad/pres/img/mazanik_crop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1920" y="1051560"/>
            <a:ext cx="4754880" cy="312039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pic>
      <p:sp>
        <p:nvSpPr>
          <p:cNvPr id="7" name="caption"/>
          <p:cNvSpPr txBox="1"/>
          <p:nvPr/>
        </p:nvSpPr>
        <p:spPr>
          <a:xfrm>
            <a:off x="3931920" y="421767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E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Карточка Елены Мазаник с 3D-портретом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9744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E6A6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650"/>
                            </p:stCondLst>
                            <p:childTnLst>
                              <p:par>
                                <p:cTn id="8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7040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1F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Героини войны в игре</a:t>
            </a:r>
            <a:endParaRPr lang="en-US" sz="2800" dirty="0"/>
          </a:p>
        </p:txBody>
      </p:sp>
      <p:sp>
        <p:nvSpPr>
          <p:cNvPr id="3" name="homeBtn"/>
          <p:cNvSpPr/>
          <p:nvPr/>
        </p:nvSpPr>
        <p:spPr>
          <a:xfrm>
            <a:off x="7635240" y="347472"/>
            <a:ext cx="1051560" cy="365760"/>
          </a:xfrm>
          <a:prstGeom prst="roundRect">
            <a:avLst>
              <a:gd name="adj" fmla="val 20000"/>
            </a:avLst>
          </a:prstGeom>
          <a:solidFill>
            <a:srgbClr val="F1F4F2"/>
          </a:solidFill>
          <a:ln w="9525">
            <a:solidFill>
              <a:srgbClr val="D5DCD8"/>
            </a:solidFill>
            <a:prstDash val="solid"/>
          </a:ln>
        </p:spPr>
      </p:sp>
      <p:sp>
        <p:nvSpPr>
          <p:cNvPr id="4" name="homeText"/>
          <p:cNvSpPr txBox="1"/>
          <p:nvPr/>
        </p:nvSpPr>
        <p:spPr>
          <a:xfrm>
            <a:off x="7635240" y="347472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u="sng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action="ppaction://hlinksldjump" tooltip="К содержанию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≡ Содержание</a:t>
            </a:r>
            <a:endParaRPr lang="en-US" sz="1100" dirty="0"/>
          </a:p>
        </p:txBody>
      </p:sp>
      <p:pic>
        <p:nvPicPr>
          <p:cNvPr id="5" name="shot" descr="/tmp/claude-0/-home-user-xy-/a67a51dc-14ac-57ee-b735-98b960f6acb5/scratchpad/pres/img/heroines_panel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3931920" cy="3396685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pic>
      <p:sp>
        <p:nvSpPr>
          <p:cNvPr id="6" name="caption"/>
          <p:cNvSpPr txBox="1"/>
          <p:nvPr/>
        </p:nvSpPr>
        <p:spPr>
          <a:xfrm>
            <a:off x="457200" y="4493965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E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1942 год: героинь можно пригласить на вкладке «Деятели»</a:t>
            </a:r>
            <a:endParaRPr lang="en-US" sz="1000" dirty="0"/>
          </a:p>
        </p:txBody>
      </p:sp>
      <p:sp>
        <p:nvSpPr>
          <p:cNvPr id="7" name="list"/>
          <p:cNvSpPr txBox="1"/>
          <p:nvPr/>
        </p:nvSpPr>
        <p:spPr>
          <a:xfrm>
            <a:off x="4663440" y="1051560"/>
            <a:ext cx="40233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300" b="1" u="sng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Статья: Ефросинья Зеньков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Ефросинья Зенькова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руководила «Юными мстителями» (Оболь)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b="1" u="sng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Статья: Зинаида Портнов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Зинаида Портнова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юная разведчица «Юных мстителей»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b="1" u="sng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invalidUrl="" action="" tgtFrame="" tooltip="Статья: Зинаида Туснолобова-Марченко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Зинаида Туснолобова-Марченко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вынесла с поля боя 128 раненых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b="1" u="sng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 invalidUrl="" action="" tgtFrame="" tooltip="Статья: Анна Масловская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Анна Масловская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партизанка, подрывала эшелоны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b="1" u="sng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 invalidUrl="" action="" tgtFrame="" tooltip="Статья: Вера Хоружая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Вера Хоружая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разведчица в оккупированном Витебске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9744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E6A6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  <p:transition spd="med">
    <p:wipe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650"/>
                            </p:stCondLst>
                            <p:childTnLst>
                              <p:par>
                                <p:cTn id="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7040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1F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Освобождение и фигурки</a:t>
            </a:r>
            <a:endParaRPr lang="en-US" sz="2800" dirty="0"/>
          </a:p>
        </p:txBody>
      </p:sp>
      <p:sp>
        <p:nvSpPr>
          <p:cNvPr id="3" name="homeBtn"/>
          <p:cNvSpPr/>
          <p:nvPr/>
        </p:nvSpPr>
        <p:spPr>
          <a:xfrm>
            <a:off x="7635240" y="347472"/>
            <a:ext cx="1051560" cy="365760"/>
          </a:xfrm>
          <a:prstGeom prst="roundRect">
            <a:avLst>
              <a:gd name="adj" fmla="val 20000"/>
            </a:avLst>
          </a:prstGeom>
          <a:solidFill>
            <a:srgbClr val="F1F4F2"/>
          </a:solidFill>
          <a:ln w="9525">
            <a:solidFill>
              <a:srgbClr val="D5DCD8"/>
            </a:solidFill>
            <a:prstDash val="solid"/>
          </a:ln>
        </p:spPr>
      </p:sp>
      <p:sp>
        <p:nvSpPr>
          <p:cNvPr id="4" name="homeText"/>
          <p:cNvSpPr txBox="1"/>
          <p:nvPr/>
        </p:nvSpPr>
        <p:spPr>
          <a:xfrm>
            <a:off x="7635240" y="347472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u="sng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action="ppaction://hlinksldjump" tooltip="К содержанию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≡ Содержание</a:t>
            </a:r>
            <a:endParaRPr lang="en-US" sz="1100" dirty="0"/>
          </a:p>
        </p:txBody>
      </p:sp>
      <p:pic>
        <p:nvPicPr>
          <p:cNvPr id="5" name="shot" descr="/tmp/claude-0/-home-user-xy-/a67a51dc-14ac-57ee-b735-98b960f6acb5/scratchpad/pres/img/army_panel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3931920" cy="3396685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pic>
      <p:sp>
        <p:nvSpPr>
          <p:cNvPr id="6" name="caption"/>
          <p:cNvSpPr txBox="1"/>
          <p:nvPr/>
        </p:nvSpPr>
        <p:spPr>
          <a:xfrm>
            <a:off x="457200" y="4493965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E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Вкладка «Армия», 1943 год</a:t>
            </a:r>
            <a:endParaRPr lang="en-US" sz="1000" dirty="0"/>
          </a:p>
        </p:txBody>
      </p:sp>
      <p:pic>
        <p:nvPicPr>
          <p:cNvPr id="7" name="gif" descr="/tmp/claude-0/-home-user-xy-/a67a51dc-14ac-57ee-b735-98b960f6acb5/scratchpad/pres/gif/battle.gif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1051560"/>
            <a:ext cx="4023360" cy="2528969"/>
          </a:xfrm>
          <a:prstGeom prst="rect">
            <a:avLst/>
          </a:prstGeom>
        </p:spPr>
      </p:pic>
      <p:sp>
        <p:nvSpPr>
          <p:cNvPr id="8" name="txt"/>
          <p:cNvSpPr txBox="1"/>
          <p:nvPr/>
        </p:nvSpPr>
        <p:spPr>
          <a:xfrm>
            <a:off x="4663440" y="3671969"/>
            <a:ext cx="4023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Освобождайте области сами: ведите армии к центрам областей.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Все фигурки войск — женщины-героини: стрелки, лётчицы, партизанки, танкистки.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9744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E6A6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7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650"/>
                            </p:stCondLst>
                            <p:childTnLst>
                              <p:par>
                                <p:cTn id="8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30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7040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Космос: взлёт ракеты</a:t>
            </a:r>
            <a:endParaRPr lang="en-US" sz="2800" dirty="0"/>
          </a:p>
        </p:txBody>
      </p:sp>
      <p:sp>
        <p:nvSpPr>
          <p:cNvPr id="3" name="homeBtn"/>
          <p:cNvSpPr/>
          <p:nvPr/>
        </p:nvSpPr>
        <p:spPr>
          <a:xfrm>
            <a:off x="7635240" y="347472"/>
            <a:ext cx="1051560" cy="365760"/>
          </a:xfrm>
          <a:prstGeom prst="roundRect">
            <a:avLst>
              <a:gd name="adj" fmla="val 20000"/>
            </a:avLst>
          </a:prstGeom>
          <a:solidFill>
            <a:srgbClr val="1F2723"/>
          </a:solidFill>
          <a:ln w="9525">
            <a:solidFill>
              <a:srgbClr val="3A4540"/>
            </a:solidFill>
            <a:prstDash val="solid"/>
          </a:ln>
        </p:spPr>
      </p:sp>
      <p:sp>
        <p:nvSpPr>
          <p:cNvPr id="4" name="homeText"/>
          <p:cNvSpPr txBox="1"/>
          <p:nvPr/>
        </p:nvSpPr>
        <p:spPr>
          <a:xfrm>
            <a:off x="7635240" y="347472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u="sng" dirty="0">
                <a:solidFill>
                  <a:srgbClr val="E8ECEA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action="ppaction://hlinksldjump" tooltip="К содержанию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≡ Содержание</a:t>
            </a:r>
            <a:endParaRPr lang="en-US" sz="1100" dirty="0"/>
          </a:p>
        </p:txBody>
      </p:sp>
      <p:pic>
        <p:nvPicPr>
          <p:cNvPr id="5" name="gif" descr="/tmp/claude-0/-home-user-xy-/a67a51dc-14ac-57ee-b735-98b960f6acb5/scratchpad/pres/gif/launch.gif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5486400" cy="3335154"/>
          </a:xfrm>
          <a:prstGeom prst="rect">
            <a:avLst/>
          </a:prstGeom>
        </p:spPr>
      </p:pic>
      <p:sp>
        <p:nvSpPr>
          <p:cNvPr id="6" name="caption"/>
          <p:cNvSpPr txBox="1"/>
          <p:nvPr/>
        </p:nvSpPr>
        <p:spPr>
          <a:xfrm>
            <a:off x="457200" y="443243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A9B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Анимация из игры: «Союз МС-25» стартует с Байконура</a:t>
            </a:r>
            <a:endParaRPr lang="en-US" sz="1000" dirty="0"/>
          </a:p>
        </p:txBody>
      </p:sp>
      <p:sp>
        <p:nvSpPr>
          <p:cNvPr id="7" name="list"/>
          <p:cNvSpPr txBox="1"/>
          <p:nvPr/>
        </p:nvSpPr>
        <p:spPr>
          <a:xfrm>
            <a:off x="6263640" y="1051560"/>
            <a:ext cx="24231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Статья: Пётр Климук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Пётр Климук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E8EC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«Союз-13», 1973 — первый космонавт из Беларуси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Статья: Владимир Ковалёнок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Владимир Ковалёнок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E8EC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«Союз-29», 1978 — 140 суток на орбите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b="1" u="sng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invalidUrl="" action="" tgtFrame="" tooltip="Статья: Марина Василевская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Марина Василевская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E8EC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«Союз МС-25», 2024 — первая женщина-космонавт суверенной Беларуси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9744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A9B4A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650"/>
                            </p:stCondLst>
                            <p:childTnLst>
                              <p:par>
                                <p:cTn id="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7040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Первая женщина-космонавт</a:t>
            </a:r>
            <a:endParaRPr lang="en-US" sz="2800" dirty="0"/>
          </a:p>
        </p:txBody>
      </p:sp>
      <p:sp>
        <p:nvSpPr>
          <p:cNvPr id="3" name="homeBtn"/>
          <p:cNvSpPr/>
          <p:nvPr/>
        </p:nvSpPr>
        <p:spPr>
          <a:xfrm>
            <a:off x="7635240" y="347472"/>
            <a:ext cx="1051560" cy="365760"/>
          </a:xfrm>
          <a:prstGeom prst="roundRect">
            <a:avLst>
              <a:gd name="adj" fmla="val 20000"/>
            </a:avLst>
          </a:prstGeom>
          <a:solidFill>
            <a:srgbClr val="1F2723"/>
          </a:solidFill>
          <a:ln w="9525">
            <a:solidFill>
              <a:srgbClr val="3A4540"/>
            </a:solidFill>
            <a:prstDash val="solid"/>
          </a:ln>
        </p:spPr>
      </p:sp>
      <p:sp>
        <p:nvSpPr>
          <p:cNvPr id="4" name="homeText"/>
          <p:cNvSpPr txBox="1"/>
          <p:nvPr/>
        </p:nvSpPr>
        <p:spPr>
          <a:xfrm>
            <a:off x="7635240" y="347472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u="sng" dirty="0">
                <a:solidFill>
                  <a:srgbClr val="E8ECEA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action="ppaction://hlinksldjump" tooltip="К содержанию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≡ Содержание</a:t>
            </a:r>
            <a:endParaRPr lang="en-US" sz="1100" dirty="0"/>
          </a:p>
        </p:txBody>
      </p:sp>
      <p:pic>
        <p:nvPicPr>
          <p:cNvPr id="5" name="card" descr="/tmp/claude-0/-home-user-xy-/a67a51dc-14ac-57ee-b735-98b960f6acb5/scratchpad/pres/img/s73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5120640" cy="3112113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50000"/>
              </a:srgbClr>
            </a:outerShdw>
          </a:effectLst>
        </p:spPr>
      </p:pic>
      <p:sp>
        <p:nvSpPr>
          <p:cNvPr id="6" name="caption"/>
          <p:cNvSpPr txBox="1"/>
          <p:nvPr/>
        </p:nvSpPr>
        <p:spPr>
          <a:xfrm>
            <a:off x="457200" y="4209393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A9B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Золотая карточка в игре · «Союз МС-25», 23 марта 2024 года</a:t>
            </a:r>
            <a:endParaRPr lang="en-US" sz="1000" dirty="0"/>
          </a:p>
        </p:txBody>
      </p:sp>
      <p:pic>
        <p:nvPicPr>
          <p:cNvPr id="7" name="small1" descr="/tmp/claude-0/-home-user-xy-/a67a51dc-14ac-57ee-b735-98b960f6acb5/scratchpad/pres/img/s71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2160" y="1051560"/>
            <a:ext cx="2834640" cy="1722777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50000"/>
              </a:srgbClr>
            </a:outerShdw>
          </a:effectLst>
        </p:spPr>
      </p:pic>
      <p:pic>
        <p:nvPicPr>
          <p:cNvPr id="8" name="small2" descr="/tmp/claude-0/-home-user-xy-/a67a51dc-14ac-57ee-b735-98b960f6acb5/scratchpad/pres/img/s76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2160" y="2911497"/>
            <a:ext cx="2834640" cy="1722777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50000"/>
              </a:srgbClr>
            </a:outerShdw>
          </a:effectLst>
        </p:spPr>
      </p:pic>
      <p:sp>
        <p:nvSpPr>
          <p:cNvPr id="9" name="txt"/>
          <p:cNvSpPr txBox="1"/>
          <p:nvPr/>
        </p:nvSpPr>
        <p:spPr>
          <a:xfrm>
            <a:off x="5852160" y="4679994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A9B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Зажигание и «крест Королёва»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9744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A9B4A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1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650"/>
                            </p:stCondLst>
                            <p:childTnLst>
                              <p:par>
                                <p:cTn id="1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30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950"/>
                            </p:stCondLst>
                            <p:childTnLst>
                              <p:par>
                                <p:cTn id="1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7040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1F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Результаты и выводы</a:t>
            </a:r>
            <a:endParaRPr lang="en-US" sz="2800" dirty="0"/>
          </a:p>
        </p:txBody>
      </p:sp>
      <p:sp>
        <p:nvSpPr>
          <p:cNvPr id="3" name="homeBtn"/>
          <p:cNvSpPr/>
          <p:nvPr/>
        </p:nvSpPr>
        <p:spPr>
          <a:xfrm>
            <a:off x="7635240" y="347472"/>
            <a:ext cx="1051560" cy="365760"/>
          </a:xfrm>
          <a:prstGeom prst="roundRect">
            <a:avLst>
              <a:gd name="adj" fmla="val 20000"/>
            </a:avLst>
          </a:prstGeom>
          <a:solidFill>
            <a:srgbClr val="F1F4F2"/>
          </a:solidFill>
          <a:ln w="9525">
            <a:solidFill>
              <a:srgbClr val="D5DCD8"/>
            </a:solidFill>
            <a:prstDash val="solid"/>
          </a:ln>
        </p:spPr>
      </p:sp>
      <p:sp>
        <p:nvSpPr>
          <p:cNvPr id="4" name="homeText"/>
          <p:cNvSpPr txBox="1"/>
          <p:nvPr/>
        </p:nvSpPr>
        <p:spPr>
          <a:xfrm>
            <a:off x="7635240" y="347472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u="sng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action="ppaction://hlinksldjump" tooltip="К содержанию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≡ Содержание</a:t>
            </a:r>
            <a:endParaRPr lang="en-US" sz="1100" dirty="0"/>
          </a:p>
        </p:txBody>
      </p:sp>
      <p:sp>
        <p:nvSpPr>
          <p:cNvPr id="5" name="d0"/>
          <p:cNvSpPr/>
          <p:nvPr/>
        </p:nvSpPr>
        <p:spPr>
          <a:xfrm>
            <a:off x="457200" y="1152144"/>
            <a:ext cx="329184" cy="329184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6" name="d0c"/>
          <p:cNvSpPr txBox="1"/>
          <p:nvPr/>
        </p:nvSpPr>
        <p:spPr>
          <a:xfrm>
            <a:off x="457200" y="11521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7" name="d0t"/>
          <p:cNvSpPr txBox="1"/>
          <p:nvPr/>
        </p:nvSpPr>
        <p:spPr>
          <a:xfrm>
            <a:off x="914400" y="109728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Игра работает на любом компьютере с Windows — один файл</a:t>
            </a:r>
            <a:endParaRPr lang="en-US" sz="1400" dirty="0"/>
          </a:p>
        </p:txBody>
      </p:sp>
      <p:sp>
        <p:nvSpPr>
          <p:cNvPr id="8" name="d1"/>
          <p:cNvSpPr/>
          <p:nvPr/>
        </p:nvSpPr>
        <p:spPr>
          <a:xfrm>
            <a:off x="457200" y="1719072"/>
            <a:ext cx="329184" cy="329184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9" name="d1c"/>
          <p:cNvSpPr txBox="1"/>
          <p:nvPr/>
        </p:nvSpPr>
        <p:spPr>
          <a:xfrm>
            <a:off x="457200" y="17190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0" name="d1t"/>
          <p:cNvSpPr txBox="1"/>
          <p:nvPr/>
        </p:nvSpPr>
        <p:spPr>
          <a:xfrm>
            <a:off x="914400" y="1664208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веков истории: 8 эпох, 70 ходов</a:t>
            </a:r>
            <a:endParaRPr lang="en-US" sz="1400" dirty="0"/>
          </a:p>
        </p:txBody>
      </p:sp>
      <p:sp>
        <p:nvSpPr>
          <p:cNvPr id="11" name="d2"/>
          <p:cNvSpPr/>
          <p:nvPr/>
        </p:nvSpPr>
        <p:spPr>
          <a:xfrm>
            <a:off x="457200" y="2286000"/>
            <a:ext cx="329184" cy="329184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12" name="d2c"/>
          <p:cNvSpPr txBox="1"/>
          <p:nvPr/>
        </p:nvSpPr>
        <p:spPr>
          <a:xfrm>
            <a:off x="457200" y="22860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3" name="d2t"/>
          <p:cNvSpPr txBox="1"/>
          <p:nvPr/>
        </p:nvSpPr>
        <p:spPr>
          <a:xfrm>
            <a:off x="914400" y="2231136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Армии на 3D-карте, снабжение и поезда</a:t>
            </a:r>
            <a:endParaRPr lang="en-US" sz="1400" dirty="0"/>
          </a:p>
        </p:txBody>
      </p:sp>
      <p:sp>
        <p:nvSpPr>
          <p:cNvPr id="14" name="d3"/>
          <p:cNvSpPr/>
          <p:nvPr/>
        </p:nvSpPr>
        <p:spPr>
          <a:xfrm>
            <a:off x="457200" y="2852928"/>
            <a:ext cx="329184" cy="329184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15" name="d3c"/>
          <p:cNvSpPr txBox="1"/>
          <p:nvPr/>
        </p:nvSpPr>
        <p:spPr>
          <a:xfrm>
            <a:off x="457200" y="28529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6" name="d3t"/>
          <p:cNvSpPr txBox="1"/>
          <p:nvPr/>
        </p:nvSpPr>
        <p:spPr>
          <a:xfrm>
            <a:off x="914400" y="2798064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женщин из истории Беларуси с 3D-портретами</a:t>
            </a:r>
            <a:endParaRPr lang="en-US" sz="1400" dirty="0"/>
          </a:p>
        </p:txBody>
      </p:sp>
      <p:sp>
        <p:nvSpPr>
          <p:cNvPr id="17" name="d4"/>
          <p:cNvSpPr/>
          <p:nvPr/>
        </p:nvSpPr>
        <p:spPr>
          <a:xfrm>
            <a:off x="457200" y="3419856"/>
            <a:ext cx="329184" cy="329184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18" name="d4c"/>
          <p:cNvSpPr txBox="1"/>
          <p:nvPr/>
        </p:nvSpPr>
        <p:spPr>
          <a:xfrm>
            <a:off x="457200" y="341985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9" name="d4t"/>
          <p:cNvSpPr txBox="1"/>
          <p:nvPr/>
        </p:nvSpPr>
        <p:spPr>
          <a:xfrm>
            <a:off x="914400" y="3364992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Анимации: пушки и взлёт ракеты</a:t>
            </a:r>
            <a:endParaRPr lang="en-US" sz="1400" dirty="0"/>
          </a:p>
        </p:txBody>
      </p:sp>
      <p:sp>
        <p:nvSpPr>
          <p:cNvPr id="20" name="conclBg"/>
          <p:cNvSpPr/>
          <p:nvPr/>
        </p:nvSpPr>
        <p:spPr>
          <a:xfrm>
            <a:off x="5029200" y="1097280"/>
            <a:ext cx="3657600" cy="3429000"/>
          </a:xfrm>
          <a:prstGeom prst="roundRect">
            <a:avLst>
              <a:gd name="adj" fmla="val 2667"/>
            </a:avLst>
          </a:prstGeom>
          <a:solidFill>
            <a:srgbClr val="F1F4F2"/>
          </a:solidFill>
          <a:ln w="9525">
            <a:solidFill>
              <a:srgbClr val="D5DCD8"/>
            </a:solidFill>
            <a:prstDash val="solid"/>
          </a:ln>
        </p:spPr>
      </p:sp>
      <p:sp>
        <p:nvSpPr>
          <p:cNvPr id="21" name="concl"/>
          <p:cNvSpPr txBox="1"/>
          <p:nvPr/>
        </p:nvSpPr>
        <p:spPr>
          <a:xfrm>
            <a:off x="5257800" y="1234440"/>
            <a:ext cx="32461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7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Выводы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Цель достигнута: игра создана и работает.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Играя, легче запомнить даты, людей и события.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 узнал о подвиге белорусских женщин и научился программировать и делать 3D-модели.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9744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E6A6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0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65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3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95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2600"/>
                            </p:stCondLst>
                            <p:childTnLst>
                              <p:par>
                                <p:cTn id="4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3250"/>
                            </p:stCondLst>
                            <p:childTnLst>
                              <p:par>
                                <p:cTn id="5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9" grpId="0" animBg="1"/>
      <p:bldP spid="10" grpId="0" animBg="1"/>
      <p:bldP spid="12" grpId="0" animBg="1"/>
      <p:bldP spid="13" grpId="0" animBg="1"/>
      <p:bldP spid="15" grpId="0" animBg="1"/>
      <p:bldP spid="16" grpId="0" animBg="1"/>
      <p:bldP spid="18" grpId="0" animBg="1"/>
      <p:bldP spid="19" grpId="0" animBg="1"/>
      <p:bldP spid="21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g" descr="/tmp/claude-0/-home-user-xy-/a67a51dc-14ac-57ee-b735-98b960f6acb5/scratchpad/pres/img/end_b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veil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41A17">
              <a:alpha val="70000"/>
            </a:srgbClr>
          </a:solidFill>
          <a:ln w="12700">
            <a:solidFill>
              <a:srgbClr val="141A17"/>
            </a:solidFill>
            <a:prstDash val="solid"/>
          </a:ln>
        </p:spPr>
      </p:sp>
      <p:sp>
        <p:nvSpPr>
          <p:cNvPr id="4" name="thanks"/>
          <p:cNvSpPr txBox="1"/>
          <p:nvPr/>
        </p:nvSpPr>
        <p:spPr>
          <a:xfrm>
            <a:off x="548640" y="109728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Спасибо за внимание!</a:t>
            </a:r>
            <a:endParaRPr lang="en-US" sz="4400" dirty="0"/>
          </a:p>
        </p:txBody>
      </p:sp>
      <p:sp>
        <p:nvSpPr>
          <p:cNvPr id="5" name="q"/>
          <p:cNvSpPr txBox="1"/>
          <p:nvPr/>
        </p:nvSpPr>
        <p:spPr>
          <a:xfrm>
            <a:off x="548640" y="201168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Готов ответить на ваши вопросы</a:t>
            </a:r>
            <a:endParaRPr lang="en-US" sz="2000" dirty="0"/>
          </a:p>
        </p:txBody>
      </p:sp>
      <p:sp>
        <p:nvSpPr>
          <p:cNvPr id="6" name="links"/>
          <p:cNvSpPr txBox="1"/>
          <p:nvPr/>
        </p:nvSpPr>
        <p:spPr>
          <a:xfrm>
            <a:off x="548640" y="347472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action="ppaction://hlinksldjump" tooltip="К содержанию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≡ К содержанию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E8EC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Источники: школьный конспект «История Беларуси и женщины-героини»; </a:t>
            </a:r>
            <a:pPr indent="0" marL="0">
              <a:spcAft>
                <a:spcPts val="800"/>
              </a:spcAft>
              <a:buNone/>
            </a:pPr>
            <a:r>
              <a:rPr lang="en-US" sz="1300" u="sng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Поиск статей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статьи о героинях</a:t>
            </a:r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E8EC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</a:t>
            </a:r>
            <a:pPr indent="0" marL="0">
              <a:spcAft>
                <a:spcPts val="800"/>
              </a:spcAft>
              <a:buNone/>
            </a:pPr>
            <a:r>
              <a:rPr lang="en-US" sz="1300" u="sng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Статья о Беларуси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Википедия о Беларуси</a:t>
            </a:r>
            <a:endParaRPr lang="en-US" sz="13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7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650"/>
                            </p:stCondLst>
                            <p:childTnLst>
                              <p:par>
                                <p:cTn id="1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30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Гимназия № 10 г. Минска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Судьба Республики Беларусь в объективе технологий</dc:title>
  <dc:subject>PptxGenJS Presentation</dc:subject>
  <dc:creator>Биончик Роман</dc:creator>
  <cp:lastModifiedBy>Биончик Роман</cp:lastModifiedBy>
  <cp:revision>1</cp:revision>
  <dcterms:created xsi:type="dcterms:W3CDTF">2026-10-22T09:51:51Z</dcterms:created>
  <dcterms:modified xsi:type="dcterms:W3CDTF">2026-10-22T09:51:51Z</dcterms:modified>
</cp:coreProperties>
</file>